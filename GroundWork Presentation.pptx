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IBM Plex Mono" panose="020B0509050203000203" pitchFamily="49" charset="0"/>
      <p:regular r:id="rId11"/>
      <p:bold r:id="rId12"/>
      <p:italic r:id="rId13"/>
      <p:boldItalic r:id="rId14"/>
    </p:embeddedFont>
    <p:embeddedFont>
      <p:font typeface="IBM Plex Sans" panose="020B0503050203000203" pitchFamily="34" charset="0"/>
      <p:regular r:id="rId15"/>
      <p:bold r:id="rId16"/>
      <p:italic r:id="rId17"/>
      <p:boldItalic r:id="rId18"/>
    </p:embeddedFont>
    <p:embeddedFont>
      <p:font typeface="Inter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D105CFA-41B2-4763-BB6F-80ADF9AB1BF6}">
  <a:tblStyle styleId="{0D105CFA-41B2-4763-BB6F-80ADF9AB1B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Relationship Id="rId19" Type="http://schemas.openxmlformats.org/officeDocument/2006/relationships/font" Target="fonts/font9.fntdata"/><Relationship Id="rId20" Type="http://schemas.openxmlformats.org/officeDocument/2006/relationships/font" Target="fonts/font10.fntdata"/><Relationship Id="rId21" Type="http://schemas.openxmlformats.org/officeDocument/2006/relationships/font" Target="fonts/font11.fntdata"/><Relationship Id="rId22" Type="http://schemas.openxmlformats.org/officeDocument/2006/relationships/font" Target="fonts/font12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Transition: That is the problem and the model. Rather than describe the product, we will run it. We will go through the five stages in one sitting, starting from a profile and ending with a plan a lender can read.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0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58952" y="5047488"/>
            <a:ext cx="457200" cy="38100"/>
          </a:xfrm>
          <a:prstGeom prst="rect">
            <a:avLst/>
          </a:prstGeom>
          <a:solidFill>
            <a:srgbClr val="7FC4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58952" y="2743200"/>
            <a:ext cx="8412480" cy="1109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Location Intelligence &amp; Financing for Small Business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58952" y="3977639"/>
            <a:ext cx="694944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2DADC"/>
                </a:solidFill>
                <a:latin typeface="IBM Plex Sans"/>
                <a:ea typeface="IBM Plex Sans"/>
                <a:cs typeface="IBM Plex Sans"/>
                <a:sym typeface="IBM Plex Sans"/>
              </a:rPr>
              <a:t>Bridging site selection, startup cost modeling, and Canadian government financing matching.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25880" y="491947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8FC3C7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GROUND CREW</a:t>
            </a:r>
            <a:endParaRPr/>
          </a:p>
        </p:txBody>
      </p:sp>
      <p:pic>
        <p:nvPicPr>
          <p:cNvPr id="89" name="Groundwork logo mark" descr="mark_t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960120"/>
            <a:ext cx="1188720" cy="1188720"/>
          </a:xfrm>
          <a:prstGeom prst="rect">
            <a:avLst/>
          </a:prstGeom>
        </p:spPr>
      </p:pic>
      <p:sp>
        <p:nvSpPr>
          <p:cNvPr id="90" name="App name"/>
          <p:cNvSpPr txBox="1"/>
          <p:nvPr/>
        </p:nvSpPr>
        <p:spPr>
          <a:xfrm>
            <a:off x="2240280" y="91440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0" b="1" i="0" spc="250">
                <a:solidFill>
                  <a:srgbClr val="FFFFFF"/>
                </a:solidFill>
                <a:latin typeface="IBM Plex Sans"/>
              </a:rPr>
              <a:t>GROUNDWORK</a:t>
            </a:r>
          </a:p>
        </p:txBody>
      </p:sp>
      <p:sp>
        <p:nvSpPr>
          <p:cNvPr id="91" name="Tagline"/>
          <p:cNvSpPr txBox="1"/>
          <p:nvPr/>
        </p:nvSpPr>
        <p:spPr>
          <a:xfrm>
            <a:off x="2286000" y="1783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8FC3C7"/>
                </a:solidFill>
                <a:latin typeface="IBM Plex Sans"/>
              </a:rPr>
              <a:t>Where to open. What it costs. How to pay for it.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/>
          <a:srcRect/>
          <a:stretch>
            <a:fillRect/>
          </a:stretch>
        </a:blip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/>
          <p:nvPr/>
        </p:nvSpPr>
        <p:spPr>
          <a:xfrm>
            <a:off x="612648" y="1536192"/>
            <a:ext cx="5330952" cy="4791456"/>
          </a:xfrm>
          <a:prstGeom prst="roundRect">
            <a:avLst>
              <a:gd name="adj" fmla="val 2173"/>
            </a:avLst>
          </a:prstGeom>
          <a:solidFill>
            <a:srgbClr val="FFFFFF"/>
          </a:solidFill>
          <a:ln w="9525" cap="flat" cmpd="sng">
            <a:solidFill>
              <a:srgbClr val="DCE3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6245352" y="1536192"/>
            <a:ext cx="5330952" cy="4791456"/>
          </a:xfrm>
          <a:prstGeom prst="roundRect">
            <a:avLst>
              <a:gd name="adj" fmla="val 2173"/>
            </a:avLst>
          </a:prstGeom>
          <a:solidFill>
            <a:srgbClr val="FFFFFF"/>
          </a:solidFill>
          <a:ln w="9525" cap="flat" cmpd="sng">
            <a:solidFill>
              <a:srgbClr val="DCE3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886968" y="5166360"/>
            <a:ext cx="4782312" cy="822960"/>
          </a:xfrm>
          <a:prstGeom prst="roundRect">
            <a:avLst>
              <a:gd name="adj" fmla="val 5769"/>
            </a:avLst>
          </a:prstGeom>
          <a:solidFill>
            <a:srgbClr val="F4F6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6519672" y="5166360"/>
            <a:ext cx="4782312" cy="822960"/>
          </a:xfrm>
          <a:prstGeom prst="roundRect">
            <a:avLst>
              <a:gd name="adj" fmla="val 5769"/>
            </a:avLst>
          </a:prstGeom>
          <a:solidFill>
            <a:srgbClr val="F4F6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886968" y="5166360"/>
            <a:ext cx="27432" cy="822960"/>
          </a:xfrm>
          <a:prstGeom prst="rect">
            <a:avLst/>
          </a:prstGeom>
          <a:solidFill>
            <a:srgbClr val="0E4F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6519672" y="5166360"/>
            <a:ext cx="27432" cy="822960"/>
          </a:xfrm>
          <a:prstGeom prst="rect">
            <a:avLst/>
          </a:prstGeom>
          <a:solidFill>
            <a:srgbClr val="8C51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609600" y="533400"/>
            <a:ext cx="110680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5808A"/>
                </a:solidFill>
                <a:latin typeface="IBM Plex Mono"/>
                <a:ea typeface="IBM Plex Mono"/>
                <a:cs typeface="IBM Plex Mono"/>
                <a:sym typeface="IBM Plex Mono"/>
              </a:rPr>
              <a:t>TARGET AUDIENCE — USER PERSONAS &amp; ARCHETYPES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09600" y="866775"/>
            <a:ext cx="115824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E4F58"/>
                </a:solidFill>
                <a:latin typeface="IBM Plex Sans"/>
                <a:ea typeface="IBM Plex Sans"/>
                <a:cs typeface="IBM Plex Sans"/>
                <a:sym typeface="IBM Plex Sans"/>
              </a:rPr>
              <a:t>Tailored Value Propositions for Primary Stakeholders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86968" y="3154680"/>
            <a:ext cx="478231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None/>
            </a:pPr>
            <a:r>
              <a:rPr lang="en-US" sz="1125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Background:</a:t>
            </a: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8 years in marketing. Has $60k personal savings but lacks spatial data tools and commercial loan experience.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25">
              <a:solidFill>
                <a:srgbClr val="55666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6519672" y="3154680"/>
            <a:ext cx="478231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None/>
            </a:pPr>
            <a:r>
              <a:rPr lang="en-US" sz="1125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Background:</a:t>
            </a: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Ran successful bakeries abroad for 10+ years. Arrived in Canada 18 months ago with strong operations skill set.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069848" y="537667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0E4F58"/>
                </a:solidFill>
                <a:latin typeface="Inter"/>
                <a:ea typeface="Inter"/>
                <a:cs typeface="Inter"/>
                <a:sym typeface="Inter"/>
              </a:rPr>
              <a:t>Groundwork Value: Neighborhood demand scores + clear loan checklist.</a:t>
            </a:r>
            <a:endParaRPr>
              <a:solidFill>
                <a:srgbClr val="0E4F58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25" b="1">
              <a:solidFill>
                <a:srgbClr val="0E4F5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55666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6702552" y="537667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01665E"/>
                </a:solidFill>
                <a:latin typeface="Inter"/>
                <a:ea typeface="Inter"/>
                <a:cs typeface="Inter"/>
                <a:sym typeface="Inter"/>
              </a:rPr>
              <a:t>Groundwork Value: Automated grant matching + lender report output.</a:t>
            </a:r>
            <a:endParaRPr>
              <a:solidFill>
                <a:srgbClr val="01665E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01665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2304288" y="202996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35808A"/>
                </a:solidFill>
                <a:latin typeface="IBM Plex Mono"/>
                <a:ea typeface="IBM Plex Mono"/>
                <a:cs typeface="IBM Plex Mono"/>
                <a:sym typeface="IBM Plex Mono"/>
              </a:rPr>
              <a:t>FIRST TIME FOUNDER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2304288" y="2267712"/>
            <a:ext cx="33832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0E4F58"/>
                </a:solidFill>
                <a:latin typeface="IBM Plex Sans"/>
                <a:ea typeface="IBM Plex Sans"/>
                <a:cs typeface="IBM Plex Sans"/>
                <a:sym typeface="IBM Plex Sans"/>
              </a:rPr>
              <a:t>JESSICA MARTINS</a:t>
            </a:r>
            <a:endParaRPr sz="1350" b="1">
              <a:solidFill>
                <a:srgbClr val="0E4F5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32 | Aspiring Café Owner (Toronto, ON)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rgbClr val="0E4F5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7936992" y="202996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0E4F58"/>
                </a:solidFill>
                <a:latin typeface="Inter"/>
                <a:ea typeface="Inter"/>
                <a:cs typeface="Inter"/>
                <a:sym typeface="Inter"/>
              </a:rPr>
              <a:t>NEWCOMER ENTREPRENEUR</a:t>
            </a:r>
            <a:endParaRPr>
              <a:solidFill>
                <a:srgbClr val="0E4F58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E4F58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8C510A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7936992" y="2267712"/>
            <a:ext cx="33832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US" sz="1300" b="1">
                <a:solidFill>
                  <a:srgbClr val="01665E"/>
                </a:solidFill>
                <a:latin typeface="IBM Plex Sans"/>
                <a:ea typeface="IBM Plex Sans"/>
                <a:cs typeface="IBM Plex Sans"/>
                <a:sym typeface="IBM Plex Sans"/>
              </a:rPr>
              <a:t>AHMED KHAN</a:t>
            </a:r>
            <a:endParaRPr sz="1300" b="1">
              <a:solidFill>
                <a:srgbClr val="01665E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38| Bakery Owner (Scarborough, ON)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01665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886968" y="4023360"/>
            <a:ext cx="4782312" cy="914400"/>
          </a:xfrm>
          <a:prstGeom prst="roundRect">
            <a:avLst>
              <a:gd name="adj" fmla="val 5769"/>
            </a:avLst>
          </a:prstGeom>
          <a:solidFill>
            <a:srgbClr val="F4F6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25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Core Pain Point:</a:t>
            </a:r>
            <a:r>
              <a:rPr lang="en-US" sz="112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Fear of committing to a 5-year lease in a saturated neighborhood without knowing true foot traffic or demand.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6519672" y="4023360"/>
            <a:ext cx="4782312" cy="914400"/>
          </a:xfrm>
          <a:prstGeom prst="roundRect">
            <a:avLst>
              <a:gd name="adj" fmla="val 5769"/>
            </a:avLst>
          </a:prstGeom>
          <a:solidFill>
            <a:srgbClr val="F4F6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None/>
            </a:pPr>
            <a:r>
              <a:rPr lang="en-US" sz="1125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Core Pain Point:</a:t>
            </a:r>
            <a:r>
              <a:rPr lang="en-US" sz="112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Overwhelmed by Canadian banking standards, municipal permits, and hidden government grant eligibility rules.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1" name="Illustrated portrait of Jessica Martins" descr="Illustrated portrait of Jessica Martin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" y="1783080"/>
            <a:ext cx="1188720" cy="1188720"/>
          </a:xfrm>
          <a:prstGeom prst="rect">
            <a:avLst/>
          </a:prstGeom>
        </p:spPr>
      </p:pic>
      <p:pic>
        <p:nvPicPr>
          <p:cNvPr id="142" name="Illustrated portrait of Ahmed Khan" descr="Illustrated portrait of Ahmed Kha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672" y="1783080"/>
            <a:ext cx="1188720" cy="1188720"/>
          </a:xfrm>
          <a:prstGeom prst="rect">
            <a:avLst/>
          </a:prstGeom>
        </p:spPr>
      </p:pic>
      <p:sp>
        <p:nvSpPr>
          <p:cNvPr id="143" name="Persona note"/>
          <p:cNvSpPr txBox="1"/>
          <p:nvPr/>
        </p:nvSpPr>
        <p:spPr>
          <a:xfrm>
            <a:off x="612648" y="6419088"/>
            <a:ext cx="74980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66C"/>
                </a:solidFill>
                <a:latin typeface="IBM Plex Sans"/>
              </a:rPr>
              <a:t>Personas are composites built from published Statistics Canada survey data, not interviews. Portraits are illustrations.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609600" y="1533525"/>
            <a:ext cx="5353050" cy="4791075"/>
          </a:xfrm>
          <a:prstGeom prst="roundRect">
            <a:avLst>
              <a:gd name="adj" fmla="val 1590"/>
            </a:avLst>
          </a:prstGeom>
          <a:solidFill>
            <a:srgbClr val="F4F6F6"/>
          </a:solidFill>
          <a:ln w="9525" cap="flat" cmpd="sng">
            <a:solidFill>
              <a:srgbClr val="DCE3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6229350" y="1533525"/>
            <a:ext cx="5353050" cy="4791075"/>
          </a:xfrm>
          <a:prstGeom prst="roundRect">
            <a:avLst>
              <a:gd name="adj" fmla="val 1590"/>
            </a:avLst>
          </a:prstGeom>
          <a:solidFill>
            <a:srgbClr val="F4F6F6"/>
          </a:solidFill>
          <a:ln w="9525" cap="flat" cmpd="sng">
            <a:solidFill>
              <a:srgbClr val="DCE3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847725" y="4448175"/>
            <a:ext cx="4876800" cy="7429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 cap="flat" cmpd="sng">
            <a:solidFill>
              <a:srgbClr val="E1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847725" y="5305425"/>
            <a:ext cx="4876800" cy="7429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 cap="flat" cmpd="sng">
            <a:solidFill>
              <a:srgbClr val="E1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467475" y="4448175"/>
            <a:ext cx="4876800" cy="7429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 cap="flat" cmpd="sng">
            <a:solidFill>
              <a:srgbClr val="E1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6467475" y="5305425"/>
            <a:ext cx="4876800" cy="7429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 cap="flat" cmpd="sng">
            <a:solidFill>
              <a:srgbClr val="E1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609600" y="533400"/>
            <a:ext cx="110680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5808A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CORE CHALLENGE — DUAL MARKET BARRIERS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09600" y="866775"/>
            <a:ext cx="115824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E4F58"/>
                </a:solidFill>
                <a:latin typeface="IBM Plex Sans"/>
                <a:ea typeface="IBM Plex Sans"/>
                <a:cs typeface="IBM Plex Sans"/>
                <a:sym typeface="IBM Plex Sans"/>
              </a:rPr>
              <a:t>Location Blindspots &amp; The Capital Access Gap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47725" y="1809750"/>
            <a:ext cx="49720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8C510A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PROBLEM 01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47725" y="2076450"/>
            <a:ext cx="64008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E4F58"/>
                </a:solidFill>
                <a:latin typeface="IBM Plex Sans"/>
                <a:ea typeface="IBM Plex Sans"/>
                <a:cs typeface="IBM Plex Sans"/>
                <a:sym typeface="IBM Plex Sans"/>
              </a:rPr>
              <a:t>Location Risk: Chosen Without Evidence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47725" y="2447925"/>
            <a:ext cx="497205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666C"/>
                </a:solidFill>
                <a:latin typeface="IBM Plex Sans"/>
                <a:ea typeface="IBM Plex Sans"/>
                <a:cs typeface="IBM Plex Sans"/>
                <a:sym typeface="IBM Plex Sans"/>
              </a:rPr>
              <a:t>Independent owners pick units based on advertised rent or foot traffic without line-of-sight into local competition or neighborhood demographics.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467475" y="1809750"/>
            <a:ext cx="49720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1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PROBLEM 02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467475" y="2076450"/>
            <a:ext cx="57245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E4F58"/>
                </a:solidFill>
                <a:latin typeface="IBM Plex Sans"/>
                <a:ea typeface="IBM Plex Sans"/>
                <a:cs typeface="IBM Plex Sans"/>
                <a:sym typeface="IBM Plex Sans"/>
              </a:rPr>
              <a:t>Capital Gap: Information &amp; Readiness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467475" y="2447925"/>
            <a:ext cx="497205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666C"/>
                </a:solidFill>
                <a:latin typeface="IBM Plex Sans"/>
                <a:ea typeface="IBM Plex Sans"/>
                <a:cs typeface="IBM Plex Sans"/>
                <a:sym typeface="IBM Plex Sans"/>
              </a:rPr>
              <a:t>Small businesses underutilize financing not due to capital scarcity, but because of awareness gaps and preparation friction before launch.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09650" y="4572000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C510A"/>
                </a:solidFill>
                <a:latin typeface="IBM Plex Mono"/>
                <a:ea typeface="IBM Plex Mono"/>
                <a:cs typeface="IBM Plex Mono"/>
                <a:sym typeface="IBM Plex Mono"/>
              </a:rPr>
              <a:t>68.0% / 48.2%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09650" y="4895850"/>
            <a:ext cx="569118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5666C"/>
                </a:solidFill>
                <a:latin typeface="IBM Plex Sans"/>
                <a:ea typeface="IBM Plex Sans"/>
                <a:cs typeface="IBM Plex Sans"/>
                <a:sym typeface="IBM Plex Sans"/>
              </a:rPr>
              <a:t>5-yr and 10-yr SME survival rate in Canada (ISED Statistics).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09650" y="5429250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C510A"/>
                </a:solidFill>
                <a:latin typeface="IBM Plex Mono"/>
                <a:ea typeface="IBM Plex Mono"/>
                <a:cs typeface="IBM Plex Mono"/>
                <a:sym typeface="IBM Plex Mono"/>
              </a:rPr>
              <a:t>2.4% / +7.5%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009650" y="5753100"/>
            <a:ext cx="569118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5666C"/>
                </a:solidFill>
                <a:latin typeface="IBM Plex Sans"/>
                <a:ea typeface="IBM Plex Sans"/>
                <a:cs typeface="IBM Plex Sans"/>
                <a:sym typeface="IBM Plex Sans"/>
              </a:rPr>
              <a:t>GTA retail vacancy &amp; H1 2026 rise in food-service insolvencies.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629400" y="4572000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1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97% Approval Rate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629400" y="4895850"/>
            <a:ext cx="55626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5666C"/>
                </a:solidFill>
                <a:latin typeface="IBM Plex Sans"/>
                <a:ea typeface="IBM Plex Sans"/>
                <a:cs typeface="IBM Plex Sans"/>
                <a:sym typeface="IBM Plex Sans"/>
              </a:rPr>
              <a:t>Debt financing approval rate for SMEs that formally apply.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629400" y="5429250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1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Only 7% Request Govt Debt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629400" y="5753100"/>
            <a:ext cx="55626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5666C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Constraint is information &amp; capital stack assembly, not approval.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609600" y="1571625"/>
            <a:ext cx="1706760" cy="4752975"/>
          </a:xfrm>
          <a:prstGeom prst="roundRect">
            <a:avLst>
              <a:gd name="adj" fmla="val 3348"/>
            </a:avLst>
          </a:prstGeom>
          <a:solidFill>
            <a:srgbClr val="F4F6F6"/>
          </a:solidFill>
          <a:ln w="9525" cap="flat" cmpd="sng">
            <a:solidFill>
              <a:srgbClr val="DCE3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2430660" y="1571625"/>
            <a:ext cx="1706760" cy="4752975"/>
          </a:xfrm>
          <a:prstGeom prst="roundRect">
            <a:avLst>
              <a:gd name="adj" fmla="val 3348"/>
            </a:avLst>
          </a:prstGeom>
          <a:solidFill>
            <a:srgbClr val="F4F6F6"/>
          </a:solidFill>
          <a:ln w="9525" cap="flat" cmpd="sng">
            <a:solidFill>
              <a:srgbClr val="DCE3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4251721" y="1571625"/>
            <a:ext cx="1706760" cy="4752975"/>
          </a:xfrm>
          <a:prstGeom prst="roundRect">
            <a:avLst>
              <a:gd name="adj" fmla="val 3348"/>
            </a:avLst>
          </a:prstGeom>
          <a:solidFill>
            <a:srgbClr val="F4F6F6"/>
          </a:solidFill>
          <a:ln w="9525" cap="flat" cmpd="sng">
            <a:solidFill>
              <a:srgbClr val="DCE3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6072782" y="1571625"/>
            <a:ext cx="1867792" cy="4752975"/>
          </a:xfrm>
          <a:prstGeom prst="roundRect">
            <a:avLst>
              <a:gd name="adj" fmla="val 3059"/>
            </a:avLst>
          </a:prstGeom>
          <a:solidFill>
            <a:srgbClr val="E4EEEF"/>
          </a:solidFill>
          <a:ln w="19050" cap="flat" cmpd="sng">
            <a:solidFill>
              <a:srgbClr val="0E4F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8054875" y="1571625"/>
            <a:ext cx="1706760" cy="4752975"/>
          </a:xfrm>
          <a:prstGeom prst="roundRect">
            <a:avLst>
              <a:gd name="adj" fmla="val 3348"/>
            </a:avLst>
          </a:prstGeom>
          <a:solidFill>
            <a:srgbClr val="F4F6F6"/>
          </a:solidFill>
          <a:ln w="9525" cap="flat" cmpd="sng">
            <a:solidFill>
              <a:srgbClr val="DCE3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9875936" y="1571625"/>
            <a:ext cx="1706760" cy="4752975"/>
          </a:xfrm>
          <a:prstGeom prst="roundRect">
            <a:avLst>
              <a:gd name="adj" fmla="val 3348"/>
            </a:avLst>
          </a:prstGeom>
          <a:solidFill>
            <a:srgbClr val="F4F6F6"/>
          </a:solidFill>
          <a:ln w="9525" cap="flat" cmpd="sng">
            <a:solidFill>
              <a:srgbClr val="DCE3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752475" y="5667375"/>
            <a:ext cx="142101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 cap="flat" cmpd="sng">
            <a:solidFill>
              <a:srgbClr val="E1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2573535" y="5667375"/>
            <a:ext cx="142101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 cap="flat" cmpd="sng">
            <a:solidFill>
              <a:srgbClr val="E1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4394596" y="5667375"/>
            <a:ext cx="142101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 cap="flat" cmpd="sng">
            <a:solidFill>
              <a:srgbClr val="E1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6225182" y="5657850"/>
            <a:ext cx="1562992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 cap="flat" cmpd="sng">
            <a:solidFill>
              <a:srgbClr val="C9DE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8197750" y="5667375"/>
            <a:ext cx="142101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 cap="flat" cmpd="sng">
            <a:solidFill>
              <a:srgbClr val="E1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10018811" y="5667375"/>
            <a:ext cx="142101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 cap="flat" cmpd="sng">
            <a:solidFill>
              <a:srgbClr val="E1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609600" y="533400"/>
            <a:ext cx="110680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5808A"/>
                </a:solidFill>
                <a:latin typeface="IBM Plex Mono"/>
                <a:ea typeface="IBM Plex Mono"/>
                <a:cs typeface="IBM Plex Mono"/>
                <a:sym typeface="IBM Plex Mono"/>
              </a:rPr>
              <a:t>CUSTOMER JOURNEY MAP &amp; WORKFLOWS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09600" y="866775"/>
            <a:ext cx="115824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E4F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End-to-End User Experience &amp; Value Touchpoints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752475" y="1771650"/>
            <a:ext cx="151626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35808A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STAGE 01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752475" y="2019300"/>
            <a:ext cx="186507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6242A"/>
                </a:solidFill>
                <a:latin typeface="IBM Plex Sans"/>
                <a:ea typeface="IBM Plex Sans"/>
                <a:cs typeface="IBM Plex Sans"/>
                <a:sym typeface="IBM Plex Sans"/>
              </a:rPr>
              <a:t>Opportunity Trigger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752475" y="2286000"/>
            <a:ext cx="151626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5666C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Entrepreneur identifies concept &amp; begins searching GTA retail units.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2573535" y="1771650"/>
            <a:ext cx="151626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35808A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STAGE 02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2573535" y="2019300"/>
            <a:ext cx="186507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6242A"/>
                </a:solidFill>
                <a:latin typeface="IBM Plex Sans"/>
                <a:ea typeface="IBM Plex Sans"/>
                <a:cs typeface="IBM Plex Sans"/>
                <a:sym typeface="IBM Plex Sans"/>
              </a:rPr>
              <a:t>Spatial Scanning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2573535" y="2286000"/>
            <a:ext cx="151626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5666C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Explores citywide map displaying 140 neighborhood density scores.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4394596" y="1771650"/>
            <a:ext cx="151626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35808A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STAGE 03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4394596" y="2019300"/>
            <a:ext cx="186507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6242A"/>
                </a:solidFill>
                <a:latin typeface="IBM Plex Sans"/>
                <a:ea typeface="IBM Plex Sans"/>
                <a:cs typeface="IBM Plex Sans"/>
                <a:sym typeface="IBM Plex Sans"/>
              </a:rPr>
              <a:t>Site Verification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4394596" y="2286000"/>
            <a:ext cx="151626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5666C"/>
                </a:solidFill>
                <a:latin typeface="IBM Plex Sans"/>
                <a:ea typeface="IBM Plex Sans"/>
                <a:cs typeface="IBM Plex Sans"/>
                <a:sym typeface="IBM Plex Sans"/>
              </a:rPr>
              <a:t>Audits local competition, foot traffic proxies, and target demographics.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6225182" y="1781175"/>
            <a:ext cx="165824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1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STAGE 04 — CORE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6225182" y="2028825"/>
            <a:ext cx="2051428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E4F58"/>
                </a:solidFill>
                <a:latin typeface="IBM Plex Sans"/>
                <a:ea typeface="IBM Plex Sans"/>
                <a:cs typeface="IBM Plex Sans"/>
                <a:sym typeface="IBM Plex Sans"/>
              </a:rPr>
              <a:t>Cost &amp; Capital Match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6225182" y="2295525"/>
            <a:ext cx="1658242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6242A"/>
                </a:solidFill>
                <a:latin typeface="IBM Plex Sans"/>
                <a:ea typeface="IBM Plex Sans"/>
                <a:cs typeface="IBM Plex Sans"/>
                <a:sym typeface="IBM Plex Sans"/>
              </a:rPr>
              <a:t>Builds operating cost model &amp; matches federal/provincial programs.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8197750" y="1771650"/>
            <a:ext cx="151626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35808A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STAGE 05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8197750" y="2019300"/>
            <a:ext cx="186507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6242A"/>
                </a:solidFill>
                <a:latin typeface="IBM Plex Sans"/>
                <a:ea typeface="IBM Plex Sans"/>
                <a:cs typeface="IBM Plex Sans"/>
                <a:sym typeface="IBM Plex Sans"/>
              </a:rPr>
              <a:t>Pitch Export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8197750" y="2286000"/>
            <a:ext cx="1516260" cy="53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5666C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Exports verified loan pack &amp; site analysis for lenders and advisors.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10018811" y="1771650"/>
            <a:ext cx="151626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35808A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STAGE 06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10018811" y="2019300"/>
            <a:ext cx="186507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6242A"/>
                </a:solidFill>
                <a:latin typeface="IBM Plex Sans"/>
                <a:ea typeface="IBM Plex Sans"/>
                <a:cs typeface="IBM Plex Sans"/>
                <a:sym typeface="IBM Plex Sans"/>
              </a:rPr>
              <a:t>Launch &amp; Scaling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10018811" y="2286000"/>
            <a:ext cx="1516260" cy="53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5666C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Receives ongoing intake window alerts for post-launch grants.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857250" y="5753100"/>
            <a:ext cx="130671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E4F58"/>
                </a:solidFill>
                <a:latin typeface="IBM Plex Sans"/>
                <a:ea typeface="IBM Plex Sans"/>
                <a:cs typeface="IBM Plex Sans"/>
                <a:sym typeface="IBM Plex Sans"/>
              </a:rPr>
              <a:t>Touchpoint: Web / SBEC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2678310" y="5753100"/>
            <a:ext cx="130671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E4F58"/>
                </a:solidFill>
                <a:latin typeface="IBM Plex Sans"/>
                <a:ea typeface="IBM Plex Sans"/>
                <a:cs typeface="IBM Plex Sans"/>
                <a:sym typeface="IBM Plex Sans"/>
              </a:rPr>
              <a:t>Touchpoint: Interactive Map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4499371" y="5753100"/>
            <a:ext cx="130671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E4F58"/>
                </a:solidFill>
                <a:latin typeface="IBM Plex Sans"/>
                <a:ea typeface="IBM Plex Sans"/>
                <a:cs typeface="IBM Plex Sans"/>
                <a:sym typeface="IBM Plex Sans"/>
              </a:rPr>
              <a:t>Touchpoint: Site Scorecard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6329957" y="5743575"/>
            <a:ext cx="144869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E4F58"/>
                </a:solidFill>
                <a:latin typeface="IBM Plex Sans"/>
                <a:ea typeface="IBM Plex Sans"/>
                <a:cs typeface="IBM Plex Sans"/>
                <a:sym typeface="IBM Plex Sans"/>
              </a:rPr>
              <a:t>Touchpoint: Financing Matcher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8302525" y="5753100"/>
            <a:ext cx="130671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E4F58"/>
                </a:solidFill>
                <a:latin typeface="IBM Plex Sans"/>
                <a:ea typeface="IBM Plex Sans"/>
                <a:cs typeface="IBM Plex Sans"/>
                <a:sym typeface="IBM Plex Sans"/>
              </a:rPr>
              <a:t>Touchpoint: PDF / Plan Pack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10123586" y="5753100"/>
            <a:ext cx="130671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E4F58"/>
                </a:solidFill>
                <a:latin typeface="IBM Plex Sans"/>
                <a:ea typeface="IBM Plex Sans"/>
                <a:cs typeface="IBM Plex Sans"/>
                <a:sym typeface="IBM Plex Sans"/>
              </a:rPr>
              <a:t>Touchpoint: Grant Alerts</a:t>
            </a:r>
            <a:endParaRPr/>
          </a:p>
        </p:txBody>
      </p:sp>
      <p:cxnSp>
        <p:nvCxnSpPr>
          <p:cNvPr id="183" name="Neutral baseline"/>
          <p:cNvCxnSpPr/>
          <p:nvPr/>
        </p:nvCxnSpPr>
        <p:spPr>
          <a:xfrm>
            <a:off x="731520" y="4297680"/>
            <a:ext cx="10744200" cy="0"/>
          </a:xfrm>
          <a:prstGeom prst="line">
            <a:avLst/>
          </a:prstGeom>
          <a:ln w="9525">
            <a:solidFill>
              <a:srgbClr val="C9D3D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Neutral label"/>
          <p:cNvSpPr txBox="1"/>
          <p:nvPr/>
        </p:nvSpPr>
        <p:spPr>
          <a:xfrm>
            <a:off x="749808" y="411480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8A999E"/>
                </a:solidFill>
                <a:latin typeface="IBM Plex Mono"/>
              </a:rPr>
              <a:t>NEUTRAL</a:t>
            </a:r>
          </a:p>
        </p:txBody>
      </p:sp>
      <p:sp>
        <p:nvSpPr>
          <p:cNvPr id="2" name="Emotion curve without Groundwork"/>
          <p:cNvSpPr/>
          <p:nvPr/>
        </p:nvSpPr>
        <p:spPr>
          <a:xfrm>
            <a:off x="1467612" y="3566160"/>
            <a:ext cx="9262872" cy="1558028"/>
          </a:xfrm>
          <a:custGeom>
            <a:avLst/>
            <a:gdLst/>
            <a:ahLst/>
            <a:cxnLst/>
            <a:rect l="l" t="t" r="r" b="b"/>
            <a:pathLst>
              <a:path w="9262872" h="1558028">
                <a:moveTo>
                  <a:pt x="0" y="0"/>
                </a:moveTo>
                <a:lnTo>
                  <a:pt x="41002" y="6983"/>
                </a:lnTo>
                <a:lnTo>
                  <a:pt x="87928" y="14591"/>
                </a:lnTo>
                <a:lnTo>
                  <a:pt x="140383" y="22815"/>
                </a:lnTo>
                <a:lnTo>
                  <a:pt x="197971" y="31644"/>
                </a:lnTo>
                <a:lnTo>
                  <a:pt x="260298" y="41068"/>
                </a:lnTo>
                <a:lnTo>
                  <a:pt x="326969" y="51077"/>
                </a:lnTo>
                <a:lnTo>
                  <a:pt x="397589" y="61662"/>
                </a:lnTo>
                <a:lnTo>
                  <a:pt x="471762" y="72813"/>
                </a:lnTo>
                <a:lnTo>
                  <a:pt x="549095" y="84519"/>
                </a:lnTo>
                <a:lnTo>
                  <a:pt x="629192" y="96771"/>
                </a:lnTo>
                <a:lnTo>
                  <a:pt x="711658" y="109558"/>
                </a:lnTo>
                <a:lnTo>
                  <a:pt x="796099" y="122872"/>
                </a:lnTo>
                <a:lnTo>
                  <a:pt x="882119" y="136701"/>
                </a:lnTo>
                <a:lnTo>
                  <a:pt x="969324" y="151037"/>
                </a:lnTo>
                <a:lnTo>
                  <a:pt x="1057319" y="165868"/>
                </a:lnTo>
                <a:lnTo>
                  <a:pt x="1145709" y="181186"/>
                </a:lnTo>
                <a:lnTo>
                  <a:pt x="1234099" y="196980"/>
                </a:lnTo>
                <a:lnTo>
                  <a:pt x="1322093" y="213240"/>
                </a:lnTo>
                <a:lnTo>
                  <a:pt x="1409298" y="229957"/>
                </a:lnTo>
                <a:lnTo>
                  <a:pt x="1495319" y="247120"/>
                </a:lnTo>
                <a:lnTo>
                  <a:pt x="1579759" y="264720"/>
                </a:lnTo>
                <a:lnTo>
                  <a:pt x="1662226" y="282746"/>
                </a:lnTo>
                <a:lnTo>
                  <a:pt x="1742323" y="301190"/>
                </a:lnTo>
                <a:lnTo>
                  <a:pt x="1819656" y="320040"/>
                </a:lnTo>
                <a:lnTo>
                  <a:pt x="1895410" y="339518"/>
                </a:lnTo>
                <a:lnTo>
                  <a:pt x="1971046" y="359820"/>
                </a:lnTo>
                <a:lnTo>
                  <a:pt x="2046581" y="380895"/>
                </a:lnTo>
                <a:lnTo>
                  <a:pt x="2122032" y="402695"/>
                </a:lnTo>
                <a:lnTo>
                  <a:pt x="2197415" y="425170"/>
                </a:lnTo>
                <a:lnTo>
                  <a:pt x="2272748" y="448270"/>
                </a:lnTo>
                <a:lnTo>
                  <a:pt x="2348047" y="471945"/>
                </a:lnTo>
                <a:lnTo>
                  <a:pt x="2423329" y="496146"/>
                </a:lnTo>
                <a:lnTo>
                  <a:pt x="2498611" y="520824"/>
                </a:lnTo>
                <a:lnTo>
                  <a:pt x="2573910" y="545928"/>
                </a:lnTo>
                <a:lnTo>
                  <a:pt x="2649242" y="571409"/>
                </a:lnTo>
                <a:lnTo>
                  <a:pt x="2724626" y="597217"/>
                </a:lnTo>
                <a:lnTo>
                  <a:pt x="2800076" y="623303"/>
                </a:lnTo>
                <a:lnTo>
                  <a:pt x="2875612" y="649618"/>
                </a:lnTo>
                <a:lnTo>
                  <a:pt x="2951248" y="676111"/>
                </a:lnTo>
                <a:lnTo>
                  <a:pt x="3027002" y="702733"/>
                </a:lnTo>
                <a:lnTo>
                  <a:pt x="3102891" y="729434"/>
                </a:lnTo>
                <a:lnTo>
                  <a:pt x="3178933" y="756165"/>
                </a:lnTo>
                <a:lnTo>
                  <a:pt x="3255142" y="782877"/>
                </a:lnTo>
                <a:lnTo>
                  <a:pt x="3331538" y="809519"/>
                </a:lnTo>
                <a:lnTo>
                  <a:pt x="3408135" y="836041"/>
                </a:lnTo>
                <a:lnTo>
                  <a:pt x="3484952" y="862396"/>
                </a:lnTo>
                <a:lnTo>
                  <a:pt x="3562005" y="888532"/>
                </a:lnTo>
                <a:lnTo>
                  <a:pt x="3639312" y="914400"/>
                </a:lnTo>
                <a:lnTo>
                  <a:pt x="3716874" y="941031"/>
                </a:lnTo>
                <a:lnTo>
                  <a:pt x="3794676" y="969340"/>
                </a:lnTo>
                <a:lnTo>
                  <a:pt x="3872702" y="999098"/>
                </a:lnTo>
                <a:lnTo>
                  <a:pt x="3950938" y="1030075"/>
                </a:lnTo>
                <a:lnTo>
                  <a:pt x="4029368" y="1062045"/>
                </a:lnTo>
                <a:lnTo>
                  <a:pt x="4107977" y="1094779"/>
                </a:lnTo>
                <a:lnTo>
                  <a:pt x="4186751" y="1128049"/>
                </a:lnTo>
                <a:lnTo>
                  <a:pt x="4265676" y="1161626"/>
                </a:lnTo>
                <a:lnTo>
                  <a:pt x="4344734" y="1195283"/>
                </a:lnTo>
                <a:lnTo>
                  <a:pt x="4423914" y="1228791"/>
                </a:lnTo>
                <a:lnTo>
                  <a:pt x="4503198" y="1261921"/>
                </a:lnTo>
                <a:lnTo>
                  <a:pt x="4582572" y="1294447"/>
                </a:lnTo>
                <a:lnTo>
                  <a:pt x="4662022" y="1326139"/>
                </a:lnTo>
                <a:lnTo>
                  <a:pt x="4741533" y="1356770"/>
                </a:lnTo>
                <a:lnTo>
                  <a:pt x="4821089" y="1386110"/>
                </a:lnTo>
                <a:lnTo>
                  <a:pt x="4900676" y="1413933"/>
                </a:lnTo>
                <a:lnTo>
                  <a:pt x="4980278" y="1440009"/>
                </a:lnTo>
                <a:lnTo>
                  <a:pt x="5059882" y="1464111"/>
                </a:lnTo>
                <a:lnTo>
                  <a:pt x="5139472" y="1486010"/>
                </a:lnTo>
                <a:lnTo>
                  <a:pt x="5219033" y="1505479"/>
                </a:lnTo>
                <a:lnTo>
                  <a:pt x="5298550" y="1522288"/>
                </a:lnTo>
                <a:lnTo>
                  <a:pt x="5378009" y="1536210"/>
                </a:lnTo>
                <a:lnTo>
                  <a:pt x="5457394" y="1547017"/>
                </a:lnTo>
                <a:lnTo>
                  <a:pt x="5536692" y="1554480"/>
                </a:lnTo>
                <a:lnTo>
                  <a:pt x="5616027" y="1558028"/>
                </a:lnTo>
                <a:lnTo>
                  <a:pt x="5695525" y="1557469"/>
                </a:lnTo>
                <a:lnTo>
                  <a:pt x="5775163" y="1553140"/>
                </a:lnTo>
                <a:lnTo>
                  <a:pt x="5854922" y="1545378"/>
                </a:lnTo>
                <a:lnTo>
                  <a:pt x="5934779" y="1534520"/>
                </a:lnTo>
                <a:lnTo>
                  <a:pt x="6014716" y="1520904"/>
                </a:lnTo>
                <a:lnTo>
                  <a:pt x="6094709" y="1504867"/>
                </a:lnTo>
                <a:lnTo>
                  <a:pt x="6174740" y="1486746"/>
                </a:lnTo>
                <a:lnTo>
                  <a:pt x="6254786" y="1466879"/>
                </a:lnTo>
                <a:lnTo>
                  <a:pt x="6334827" y="1445603"/>
                </a:lnTo>
                <a:lnTo>
                  <a:pt x="6414842" y="1423256"/>
                </a:lnTo>
                <a:lnTo>
                  <a:pt x="6494811" y="1400175"/>
                </a:lnTo>
                <a:lnTo>
                  <a:pt x="6574713" y="1376696"/>
                </a:lnTo>
                <a:lnTo>
                  <a:pt x="6654526" y="1353158"/>
                </a:lnTo>
                <a:lnTo>
                  <a:pt x="6734230" y="1329898"/>
                </a:lnTo>
                <a:lnTo>
                  <a:pt x="6813804" y="1307253"/>
                </a:lnTo>
                <a:lnTo>
                  <a:pt x="6893227" y="1285560"/>
                </a:lnTo>
                <a:lnTo>
                  <a:pt x="6972478" y="1265158"/>
                </a:lnTo>
                <a:lnTo>
                  <a:pt x="7051537" y="1246382"/>
                </a:lnTo>
                <a:lnTo>
                  <a:pt x="7130383" y="1229571"/>
                </a:lnTo>
                <a:lnTo>
                  <a:pt x="7208994" y="1215062"/>
                </a:lnTo>
                <a:lnTo>
                  <a:pt x="7287351" y="1203192"/>
                </a:lnTo>
                <a:lnTo>
                  <a:pt x="7365431" y="1194299"/>
                </a:lnTo>
                <a:lnTo>
                  <a:pt x="7443216" y="1188720"/>
                </a:lnTo>
                <a:lnTo>
                  <a:pt x="7522210" y="1185994"/>
                </a:lnTo>
                <a:lnTo>
                  <a:pt x="7603687" y="1185333"/>
                </a:lnTo>
                <a:lnTo>
                  <a:pt x="7687268" y="1186576"/>
                </a:lnTo>
                <a:lnTo>
                  <a:pt x="7772579" y="1189566"/>
                </a:lnTo>
                <a:lnTo>
                  <a:pt x="7859244" y="1194143"/>
                </a:lnTo>
                <a:lnTo>
                  <a:pt x="7946886" y="1200150"/>
                </a:lnTo>
                <a:lnTo>
                  <a:pt x="8035129" y="1207426"/>
                </a:lnTo>
                <a:lnTo>
                  <a:pt x="8123597" y="1215813"/>
                </a:lnTo>
                <a:lnTo>
                  <a:pt x="8211914" y="1225153"/>
                </a:lnTo>
                <a:lnTo>
                  <a:pt x="8299705" y="1235286"/>
                </a:lnTo>
                <a:lnTo>
                  <a:pt x="8386593" y="1246055"/>
                </a:lnTo>
                <a:lnTo>
                  <a:pt x="8472201" y="1257300"/>
                </a:lnTo>
                <a:lnTo>
                  <a:pt x="8556155" y="1268862"/>
                </a:lnTo>
                <a:lnTo>
                  <a:pt x="8638078" y="1280583"/>
                </a:lnTo>
                <a:lnTo>
                  <a:pt x="8717594" y="1292304"/>
                </a:lnTo>
                <a:lnTo>
                  <a:pt x="8794326" y="1303866"/>
                </a:lnTo>
                <a:lnTo>
                  <a:pt x="8867900" y="1315111"/>
                </a:lnTo>
                <a:lnTo>
                  <a:pt x="8937938" y="1325880"/>
                </a:lnTo>
                <a:lnTo>
                  <a:pt x="9004065" y="1336013"/>
                </a:lnTo>
                <a:lnTo>
                  <a:pt x="9065905" y="1345353"/>
                </a:lnTo>
                <a:lnTo>
                  <a:pt x="9123082" y="1353740"/>
                </a:lnTo>
                <a:lnTo>
                  <a:pt x="9175219" y="1361016"/>
                </a:lnTo>
                <a:lnTo>
                  <a:pt x="9221941" y="1367022"/>
                </a:lnTo>
                <a:lnTo>
                  <a:pt x="9262872" y="1371600"/>
                </a:lnTo>
              </a:path>
            </a:pathLst>
          </a:custGeom>
          <a:noFill/>
          <a:ln w="31750">
            <a:solidFill>
              <a:srgbClr val="8C510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motion curve with Groundwork"/>
          <p:cNvSpPr/>
          <p:nvPr/>
        </p:nvSpPr>
        <p:spPr>
          <a:xfrm>
            <a:off x="1467612" y="3566160"/>
            <a:ext cx="9262872" cy="644432"/>
          </a:xfrm>
          <a:custGeom>
            <a:avLst/>
            <a:gdLst/>
            <a:ahLst/>
            <a:cxnLst/>
            <a:rect l="l" t="t" r="r" b="b"/>
            <a:pathLst>
              <a:path w="9262872" h="644432">
                <a:moveTo>
                  <a:pt x="0" y="0"/>
                </a:moveTo>
                <a:lnTo>
                  <a:pt x="41002" y="1908"/>
                </a:lnTo>
                <a:lnTo>
                  <a:pt x="87928" y="3836"/>
                </a:lnTo>
                <a:lnTo>
                  <a:pt x="140383" y="5804"/>
                </a:lnTo>
                <a:lnTo>
                  <a:pt x="197971" y="7831"/>
                </a:lnTo>
                <a:lnTo>
                  <a:pt x="260298" y="9938"/>
                </a:lnTo>
                <a:lnTo>
                  <a:pt x="326969" y="12144"/>
                </a:lnTo>
                <a:lnTo>
                  <a:pt x="397589" y="14469"/>
                </a:lnTo>
                <a:lnTo>
                  <a:pt x="471762" y="16933"/>
                </a:lnTo>
                <a:lnTo>
                  <a:pt x="549095" y="19556"/>
                </a:lnTo>
                <a:lnTo>
                  <a:pt x="629192" y="22357"/>
                </a:lnTo>
                <a:lnTo>
                  <a:pt x="711658" y="25357"/>
                </a:lnTo>
                <a:lnTo>
                  <a:pt x="796099" y="28575"/>
                </a:lnTo>
                <a:lnTo>
                  <a:pt x="882119" y="32031"/>
                </a:lnTo>
                <a:lnTo>
                  <a:pt x="969324" y="35745"/>
                </a:lnTo>
                <a:lnTo>
                  <a:pt x="1057319" y="39737"/>
                </a:lnTo>
                <a:lnTo>
                  <a:pt x="1145709" y="44026"/>
                </a:lnTo>
                <a:lnTo>
                  <a:pt x="1234099" y="48633"/>
                </a:lnTo>
                <a:lnTo>
                  <a:pt x="1322093" y="53578"/>
                </a:lnTo>
                <a:lnTo>
                  <a:pt x="1409298" y="58879"/>
                </a:lnTo>
                <a:lnTo>
                  <a:pt x="1495319" y="64558"/>
                </a:lnTo>
                <a:lnTo>
                  <a:pt x="1579759" y="70633"/>
                </a:lnTo>
                <a:lnTo>
                  <a:pt x="1662226" y="77126"/>
                </a:lnTo>
                <a:lnTo>
                  <a:pt x="1742323" y="84054"/>
                </a:lnTo>
                <a:lnTo>
                  <a:pt x="1819656" y="91440"/>
                </a:lnTo>
                <a:lnTo>
                  <a:pt x="1895410" y="99370"/>
                </a:lnTo>
                <a:lnTo>
                  <a:pt x="1971046" y="107897"/>
                </a:lnTo>
                <a:lnTo>
                  <a:pt x="2046581" y="116978"/>
                </a:lnTo>
                <a:lnTo>
                  <a:pt x="2122032" y="126576"/>
                </a:lnTo>
                <a:lnTo>
                  <a:pt x="2197415" y="136650"/>
                </a:lnTo>
                <a:lnTo>
                  <a:pt x="2272748" y="147161"/>
                </a:lnTo>
                <a:lnTo>
                  <a:pt x="2348047" y="158068"/>
                </a:lnTo>
                <a:lnTo>
                  <a:pt x="2423329" y="169333"/>
                </a:lnTo>
                <a:lnTo>
                  <a:pt x="2498611" y="180915"/>
                </a:lnTo>
                <a:lnTo>
                  <a:pt x="2573910" y="192775"/>
                </a:lnTo>
                <a:lnTo>
                  <a:pt x="2649242" y="204873"/>
                </a:lnTo>
                <a:lnTo>
                  <a:pt x="2724626" y="217169"/>
                </a:lnTo>
                <a:lnTo>
                  <a:pt x="2800076" y="229625"/>
                </a:lnTo>
                <a:lnTo>
                  <a:pt x="2875612" y="242199"/>
                </a:lnTo>
                <a:lnTo>
                  <a:pt x="2951248" y="254853"/>
                </a:lnTo>
                <a:lnTo>
                  <a:pt x="3027002" y="267546"/>
                </a:lnTo>
                <a:lnTo>
                  <a:pt x="3102891" y="280240"/>
                </a:lnTo>
                <a:lnTo>
                  <a:pt x="3178933" y="292893"/>
                </a:lnTo>
                <a:lnTo>
                  <a:pt x="3255142" y="305468"/>
                </a:lnTo>
                <a:lnTo>
                  <a:pt x="3331538" y="317923"/>
                </a:lnTo>
                <a:lnTo>
                  <a:pt x="3408135" y="330219"/>
                </a:lnTo>
                <a:lnTo>
                  <a:pt x="3484952" y="342317"/>
                </a:lnTo>
                <a:lnTo>
                  <a:pt x="3562005" y="354177"/>
                </a:lnTo>
                <a:lnTo>
                  <a:pt x="3639312" y="365760"/>
                </a:lnTo>
                <a:lnTo>
                  <a:pt x="3716874" y="377836"/>
                </a:lnTo>
                <a:lnTo>
                  <a:pt x="3794676" y="391093"/>
                </a:lnTo>
                <a:lnTo>
                  <a:pt x="3872702" y="405363"/>
                </a:lnTo>
                <a:lnTo>
                  <a:pt x="3950938" y="420475"/>
                </a:lnTo>
                <a:lnTo>
                  <a:pt x="4029368" y="436263"/>
                </a:lnTo>
                <a:lnTo>
                  <a:pt x="4107977" y="452556"/>
                </a:lnTo>
                <a:lnTo>
                  <a:pt x="4186751" y="469187"/>
                </a:lnTo>
                <a:lnTo>
                  <a:pt x="4265676" y="485986"/>
                </a:lnTo>
                <a:lnTo>
                  <a:pt x="4344734" y="502786"/>
                </a:lnTo>
                <a:lnTo>
                  <a:pt x="4423914" y="519416"/>
                </a:lnTo>
                <a:lnTo>
                  <a:pt x="4503198" y="535710"/>
                </a:lnTo>
                <a:lnTo>
                  <a:pt x="4582572" y="551497"/>
                </a:lnTo>
                <a:lnTo>
                  <a:pt x="4662022" y="566610"/>
                </a:lnTo>
                <a:lnTo>
                  <a:pt x="4741533" y="580879"/>
                </a:lnTo>
                <a:lnTo>
                  <a:pt x="4821089" y="594136"/>
                </a:lnTo>
                <a:lnTo>
                  <a:pt x="4900676" y="606213"/>
                </a:lnTo>
                <a:lnTo>
                  <a:pt x="4980278" y="616940"/>
                </a:lnTo>
                <a:lnTo>
                  <a:pt x="5059882" y="626149"/>
                </a:lnTo>
                <a:lnTo>
                  <a:pt x="5139472" y="633672"/>
                </a:lnTo>
                <a:lnTo>
                  <a:pt x="5219033" y="639339"/>
                </a:lnTo>
                <a:lnTo>
                  <a:pt x="5298550" y="642982"/>
                </a:lnTo>
                <a:lnTo>
                  <a:pt x="5378009" y="644432"/>
                </a:lnTo>
                <a:lnTo>
                  <a:pt x="5457394" y="643521"/>
                </a:lnTo>
                <a:lnTo>
                  <a:pt x="5536692" y="640080"/>
                </a:lnTo>
                <a:lnTo>
                  <a:pt x="5616027" y="633501"/>
                </a:lnTo>
                <a:lnTo>
                  <a:pt x="5695525" y="623490"/>
                </a:lnTo>
                <a:lnTo>
                  <a:pt x="5775163" y="610344"/>
                </a:lnTo>
                <a:lnTo>
                  <a:pt x="5854922" y="594360"/>
                </a:lnTo>
                <a:lnTo>
                  <a:pt x="5934779" y="575835"/>
                </a:lnTo>
                <a:lnTo>
                  <a:pt x="6014716" y="555069"/>
                </a:lnTo>
                <a:lnTo>
                  <a:pt x="6094709" y="532358"/>
                </a:lnTo>
                <a:lnTo>
                  <a:pt x="6174740" y="508000"/>
                </a:lnTo>
                <a:lnTo>
                  <a:pt x="6254786" y="482292"/>
                </a:lnTo>
                <a:lnTo>
                  <a:pt x="6334827" y="455533"/>
                </a:lnTo>
                <a:lnTo>
                  <a:pt x="6414842" y="428019"/>
                </a:lnTo>
                <a:lnTo>
                  <a:pt x="6494811" y="400050"/>
                </a:lnTo>
                <a:lnTo>
                  <a:pt x="6574713" y="371921"/>
                </a:lnTo>
                <a:lnTo>
                  <a:pt x="6654526" y="343931"/>
                </a:lnTo>
                <a:lnTo>
                  <a:pt x="6734230" y="316378"/>
                </a:lnTo>
                <a:lnTo>
                  <a:pt x="6813804" y="289560"/>
                </a:lnTo>
                <a:lnTo>
                  <a:pt x="6893227" y="263773"/>
                </a:lnTo>
                <a:lnTo>
                  <a:pt x="6972478" y="239315"/>
                </a:lnTo>
                <a:lnTo>
                  <a:pt x="7051537" y="216485"/>
                </a:lnTo>
                <a:lnTo>
                  <a:pt x="7130383" y="195579"/>
                </a:lnTo>
                <a:lnTo>
                  <a:pt x="7208994" y="176897"/>
                </a:lnTo>
                <a:lnTo>
                  <a:pt x="7287351" y="160734"/>
                </a:lnTo>
                <a:lnTo>
                  <a:pt x="7365431" y="147389"/>
                </a:lnTo>
                <a:lnTo>
                  <a:pt x="7443216" y="137160"/>
                </a:lnTo>
                <a:lnTo>
                  <a:pt x="7522210" y="129673"/>
                </a:lnTo>
                <a:lnTo>
                  <a:pt x="7603687" y="124261"/>
                </a:lnTo>
                <a:lnTo>
                  <a:pt x="7687268" y="120774"/>
                </a:lnTo>
                <a:lnTo>
                  <a:pt x="7772579" y="119062"/>
                </a:lnTo>
                <a:lnTo>
                  <a:pt x="7859244" y="118978"/>
                </a:lnTo>
                <a:lnTo>
                  <a:pt x="7946886" y="120372"/>
                </a:lnTo>
                <a:lnTo>
                  <a:pt x="8035129" y="123095"/>
                </a:lnTo>
                <a:lnTo>
                  <a:pt x="8123597" y="126999"/>
                </a:lnTo>
                <a:lnTo>
                  <a:pt x="8211914" y="131936"/>
                </a:lnTo>
                <a:lnTo>
                  <a:pt x="8299705" y="137755"/>
                </a:lnTo>
                <a:lnTo>
                  <a:pt x="8386593" y="144308"/>
                </a:lnTo>
                <a:lnTo>
                  <a:pt x="8472201" y="151447"/>
                </a:lnTo>
                <a:lnTo>
                  <a:pt x="8556155" y="159022"/>
                </a:lnTo>
                <a:lnTo>
                  <a:pt x="8638078" y="166885"/>
                </a:lnTo>
                <a:lnTo>
                  <a:pt x="8717594" y="174887"/>
                </a:lnTo>
                <a:lnTo>
                  <a:pt x="8794326" y="182879"/>
                </a:lnTo>
                <a:lnTo>
                  <a:pt x="8867900" y="190713"/>
                </a:lnTo>
                <a:lnTo>
                  <a:pt x="8937938" y="198239"/>
                </a:lnTo>
                <a:lnTo>
                  <a:pt x="9004065" y="205308"/>
                </a:lnTo>
                <a:lnTo>
                  <a:pt x="9065905" y="211772"/>
                </a:lnTo>
                <a:lnTo>
                  <a:pt x="9123082" y="217482"/>
                </a:lnTo>
                <a:lnTo>
                  <a:pt x="9175219" y="222289"/>
                </a:lnTo>
                <a:lnTo>
                  <a:pt x="9221941" y="226045"/>
                </a:lnTo>
                <a:lnTo>
                  <a:pt x="9262872" y="228600"/>
                </a:lnTo>
              </a:path>
            </a:pathLst>
          </a:custGeom>
          <a:noFill/>
          <a:ln w="31750">
            <a:solidFill>
              <a:srgbClr val="0E4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With point 1"/>
          <p:cNvSpPr/>
          <p:nvPr/>
        </p:nvSpPr>
        <p:spPr>
          <a:xfrm>
            <a:off x="1403604" y="3502152"/>
            <a:ext cx="128016" cy="128016"/>
          </a:xfrm>
          <a:prstGeom prst="ellipse">
            <a:avLst/>
          </a:prstGeom>
          <a:solidFill>
            <a:srgbClr val="0E4F5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With label 1"/>
          <p:cNvSpPr txBox="1"/>
          <p:nvPr/>
        </p:nvSpPr>
        <p:spPr>
          <a:xfrm>
            <a:off x="690372" y="325526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E4F58"/>
                </a:solidFill>
                <a:latin typeface="IBM Plex Sans"/>
              </a:rPr>
              <a:t>Excited</a:t>
            </a:r>
          </a:p>
        </p:txBody>
      </p:sp>
      <p:sp>
        <p:nvSpPr>
          <p:cNvPr id="187" name="Without point 2"/>
          <p:cNvSpPr/>
          <p:nvPr/>
        </p:nvSpPr>
        <p:spPr>
          <a:xfrm>
            <a:off x="3223260" y="3822191"/>
            <a:ext cx="128016" cy="128016"/>
          </a:xfrm>
          <a:prstGeom prst="ellipse">
            <a:avLst/>
          </a:prstGeom>
          <a:solidFill>
            <a:srgbClr val="8C5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Without label 2"/>
          <p:cNvSpPr txBox="1"/>
          <p:nvPr/>
        </p:nvSpPr>
        <p:spPr>
          <a:xfrm>
            <a:off x="2510028" y="399592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8C510A"/>
                </a:solidFill>
                <a:latin typeface="IBM Plex Sans"/>
              </a:rPr>
              <a:t>Scattered</a:t>
            </a:r>
          </a:p>
        </p:txBody>
      </p:sp>
      <p:sp>
        <p:nvSpPr>
          <p:cNvPr id="189" name="With point 2"/>
          <p:cNvSpPr/>
          <p:nvPr/>
        </p:nvSpPr>
        <p:spPr>
          <a:xfrm>
            <a:off x="3223260" y="3593592"/>
            <a:ext cx="128016" cy="128016"/>
          </a:xfrm>
          <a:prstGeom prst="ellipse">
            <a:avLst/>
          </a:prstGeom>
          <a:solidFill>
            <a:srgbClr val="0E4F5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With label 2"/>
          <p:cNvSpPr txBox="1"/>
          <p:nvPr/>
        </p:nvSpPr>
        <p:spPr>
          <a:xfrm>
            <a:off x="2510028" y="334670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E4F58"/>
                </a:solidFill>
                <a:latin typeface="IBM Plex Sans"/>
              </a:rPr>
              <a:t>Focused</a:t>
            </a:r>
          </a:p>
        </p:txBody>
      </p:sp>
      <p:sp>
        <p:nvSpPr>
          <p:cNvPr id="191" name="Without point 3"/>
          <p:cNvSpPr/>
          <p:nvPr/>
        </p:nvSpPr>
        <p:spPr>
          <a:xfrm>
            <a:off x="5042916" y="4416552"/>
            <a:ext cx="128016" cy="128016"/>
          </a:xfrm>
          <a:prstGeom prst="ellipse">
            <a:avLst/>
          </a:prstGeom>
          <a:solidFill>
            <a:srgbClr val="8C5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Without label 3"/>
          <p:cNvSpPr txBox="1"/>
          <p:nvPr/>
        </p:nvSpPr>
        <p:spPr>
          <a:xfrm>
            <a:off x="4329684" y="459028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8C510A"/>
                </a:solidFill>
                <a:latin typeface="IBM Plex Sans"/>
              </a:rPr>
              <a:t>Unsure</a:t>
            </a:r>
          </a:p>
        </p:txBody>
      </p:sp>
      <p:sp>
        <p:nvSpPr>
          <p:cNvPr id="193" name="With point 3"/>
          <p:cNvSpPr/>
          <p:nvPr/>
        </p:nvSpPr>
        <p:spPr>
          <a:xfrm>
            <a:off x="5042916" y="3867911"/>
            <a:ext cx="128016" cy="128016"/>
          </a:xfrm>
          <a:prstGeom prst="ellipse">
            <a:avLst/>
          </a:prstGeom>
          <a:solidFill>
            <a:srgbClr val="0E4F5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With label 3"/>
          <p:cNvSpPr txBox="1"/>
          <p:nvPr/>
        </p:nvSpPr>
        <p:spPr>
          <a:xfrm>
            <a:off x="4329684" y="362102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E4F58"/>
                </a:solidFill>
                <a:latin typeface="IBM Plex Sans"/>
              </a:rPr>
              <a:t>Informed</a:t>
            </a:r>
          </a:p>
        </p:txBody>
      </p:sp>
      <p:sp>
        <p:nvSpPr>
          <p:cNvPr id="195" name="Without point 4"/>
          <p:cNvSpPr/>
          <p:nvPr/>
        </p:nvSpPr>
        <p:spPr>
          <a:xfrm>
            <a:off x="6940296" y="5056632"/>
            <a:ext cx="128016" cy="128016"/>
          </a:xfrm>
          <a:prstGeom prst="ellipse">
            <a:avLst/>
          </a:prstGeom>
          <a:solidFill>
            <a:srgbClr val="8C5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Without label 4"/>
          <p:cNvSpPr txBox="1"/>
          <p:nvPr/>
        </p:nvSpPr>
        <p:spPr>
          <a:xfrm>
            <a:off x="6227064" y="523036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8C510A"/>
                </a:solidFill>
                <a:latin typeface="IBM Plex Sans"/>
              </a:rPr>
              <a:t>Anxious</a:t>
            </a:r>
          </a:p>
        </p:txBody>
      </p:sp>
      <p:sp>
        <p:nvSpPr>
          <p:cNvPr id="197" name="With point 4"/>
          <p:cNvSpPr/>
          <p:nvPr/>
        </p:nvSpPr>
        <p:spPr>
          <a:xfrm>
            <a:off x="6940296" y="4142232"/>
            <a:ext cx="128016" cy="128016"/>
          </a:xfrm>
          <a:prstGeom prst="ellipse">
            <a:avLst/>
          </a:prstGeom>
          <a:solidFill>
            <a:srgbClr val="0E4F5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With label 4"/>
          <p:cNvSpPr txBox="1"/>
          <p:nvPr/>
        </p:nvSpPr>
        <p:spPr>
          <a:xfrm>
            <a:off x="6227064" y="389534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E4F58"/>
                </a:solidFill>
                <a:latin typeface="IBM Plex Sans"/>
              </a:rPr>
              <a:t>Clear on options</a:t>
            </a:r>
          </a:p>
        </p:txBody>
      </p:sp>
      <p:sp>
        <p:nvSpPr>
          <p:cNvPr id="199" name="Without point 5"/>
          <p:cNvSpPr/>
          <p:nvPr/>
        </p:nvSpPr>
        <p:spPr>
          <a:xfrm>
            <a:off x="8846820" y="4690872"/>
            <a:ext cx="128016" cy="128016"/>
          </a:xfrm>
          <a:prstGeom prst="ellipse">
            <a:avLst/>
          </a:prstGeom>
          <a:solidFill>
            <a:srgbClr val="8C5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Without label 5"/>
          <p:cNvSpPr txBox="1"/>
          <p:nvPr/>
        </p:nvSpPr>
        <p:spPr>
          <a:xfrm>
            <a:off x="8133588" y="486460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8C510A"/>
                </a:solidFill>
                <a:latin typeface="IBM Plex Sans"/>
              </a:rPr>
              <a:t>Frightened</a:t>
            </a:r>
          </a:p>
        </p:txBody>
      </p:sp>
      <p:sp>
        <p:nvSpPr>
          <p:cNvPr id="201" name="With point 5"/>
          <p:cNvSpPr/>
          <p:nvPr/>
        </p:nvSpPr>
        <p:spPr>
          <a:xfrm>
            <a:off x="8846820" y="3639312"/>
            <a:ext cx="128016" cy="128016"/>
          </a:xfrm>
          <a:prstGeom prst="ellipse">
            <a:avLst/>
          </a:prstGeom>
          <a:solidFill>
            <a:srgbClr val="0E4F5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With label 5"/>
          <p:cNvSpPr txBox="1"/>
          <p:nvPr/>
        </p:nvSpPr>
        <p:spPr>
          <a:xfrm>
            <a:off x="8133588" y="339242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E4F58"/>
                </a:solidFill>
                <a:latin typeface="IBM Plex Sans"/>
              </a:rPr>
              <a:t>Prepared</a:t>
            </a:r>
          </a:p>
        </p:txBody>
      </p:sp>
      <p:sp>
        <p:nvSpPr>
          <p:cNvPr id="203" name="Without point 6"/>
          <p:cNvSpPr/>
          <p:nvPr/>
        </p:nvSpPr>
        <p:spPr>
          <a:xfrm>
            <a:off x="10666476" y="4873752"/>
            <a:ext cx="128016" cy="128016"/>
          </a:xfrm>
          <a:prstGeom prst="ellipse">
            <a:avLst/>
          </a:prstGeom>
          <a:solidFill>
            <a:srgbClr val="8C510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Without label 6"/>
          <p:cNvSpPr txBox="1"/>
          <p:nvPr/>
        </p:nvSpPr>
        <p:spPr>
          <a:xfrm>
            <a:off x="9953244" y="504748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8C510A"/>
                </a:solidFill>
                <a:latin typeface="IBM Plex Sans"/>
              </a:rPr>
              <a:t>Overwhelmed</a:t>
            </a:r>
          </a:p>
        </p:txBody>
      </p:sp>
      <p:sp>
        <p:nvSpPr>
          <p:cNvPr id="205" name="With point 6"/>
          <p:cNvSpPr/>
          <p:nvPr/>
        </p:nvSpPr>
        <p:spPr>
          <a:xfrm>
            <a:off x="10666476" y="3730752"/>
            <a:ext cx="128016" cy="128016"/>
          </a:xfrm>
          <a:prstGeom prst="ellipse">
            <a:avLst/>
          </a:prstGeom>
          <a:solidFill>
            <a:srgbClr val="0E4F5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With label 6"/>
          <p:cNvSpPr txBox="1"/>
          <p:nvPr/>
        </p:nvSpPr>
        <p:spPr>
          <a:xfrm>
            <a:off x="9953244" y="348386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E4F58"/>
                </a:solidFill>
                <a:latin typeface="IBM Plex Sans"/>
              </a:rPr>
              <a:t>Supported</a:t>
            </a:r>
          </a:p>
        </p:txBody>
      </p:sp>
      <p:sp>
        <p:nvSpPr>
          <p:cNvPr id="207" name="Legend title"/>
          <p:cNvSpPr txBox="1"/>
          <p:nvPr/>
        </p:nvSpPr>
        <p:spPr>
          <a:xfrm>
            <a:off x="612648" y="64190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3E7E86"/>
                </a:solidFill>
                <a:latin typeface="IBM Plex Mono"/>
              </a:rPr>
              <a:t>EMOTIONAL STATE</a:t>
            </a:r>
          </a:p>
        </p:txBody>
      </p:sp>
      <p:cxnSp>
        <p:nvCxnSpPr>
          <p:cNvPr id="208" name="Connector 207"/>
          <p:cNvCxnSpPr/>
          <p:nvPr/>
        </p:nvCxnSpPr>
        <p:spPr>
          <a:xfrm>
            <a:off x="2029968" y="6510527"/>
            <a:ext cx="365760" cy="0"/>
          </a:xfrm>
          <a:prstGeom prst="line">
            <a:avLst/>
          </a:prstGeom>
          <a:ln w="31750">
            <a:solidFill>
              <a:srgbClr val="0E4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Legend with"/>
          <p:cNvSpPr txBox="1"/>
          <p:nvPr/>
        </p:nvSpPr>
        <p:spPr>
          <a:xfrm>
            <a:off x="2487168" y="641908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6242A"/>
                </a:solidFill>
                <a:latin typeface="IBM Plex Sans"/>
              </a:rPr>
              <a:t>With Groundwork</a:t>
            </a:r>
          </a:p>
        </p:txBody>
      </p:sp>
      <p:cxnSp>
        <p:nvCxnSpPr>
          <p:cNvPr id="210" name="Connector 209"/>
          <p:cNvCxnSpPr/>
          <p:nvPr/>
        </p:nvCxnSpPr>
        <p:spPr>
          <a:xfrm>
            <a:off x="3721608" y="6510527"/>
            <a:ext cx="365760" cy="0"/>
          </a:xfrm>
          <a:prstGeom prst="line">
            <a:avLst/>
          </a:prstGeom>
          <a:ln w="31750">
            <a:solidFill>
              <a:srgbClr val="8C510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Legend without"/>
          <p:cNvSpPr txBox="1"/>
          <p:nvPr/>
        </p:nvSpPr>
        <p:spPr>
          <a:xfrm>
            <a:off x="4178808" y="641908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6242A"/>
                </a:solidFill>
                <a:latin typeface="IBM Plex Sans"/>
              </a:rPr>
              <a:t>Without</a:t>
            </a:r>
          </a:p>
        </p:txBody>
      </p:sp>
      <p:sp>
        <p:nvSpPr>
          <p:cNvPr id="212" name="Legend note"/>
          <p:cNvSpPr txBox="1"/>
          <p:nvPr/>
        </p:nvSpPr>
        <p:spPr>
          <a:xfrm>
            <a:off x="4956048" y="6428231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5666C"/>
                </a:solidFill>
                <a:latin typeface="IBM Plex Sans"/>
              </a:rPr>
              <a:t>Illustrative arc for the constructed persona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/>
          <a:srcRect/>
          <a:stretch>
            <a:fillRect/>
          </a:stretch>
        </a:blip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/>
          <p:nvPr/>
        </p:nvSpPr>
        <p:spPr>
          <a:xfrm>
            <a:off x="609600" y="2681287"/>
            <a:ext cx="5362575" cy="2495550"/>
          </a:xfrm>
          <a:prstGeom prst="roundRect">
            <a:avLst>
              <a:gd name="adj" fmla="val 3053"/>
            </a:avLst>
          </a:prstGeom>
          <a:solidFill>
            <a:srgbClr val="F4F6F6"/>
          </a:solidFill>
          <a:ln w="9525" cap="flat" cmpd="sng">
            <a:solidFill>
              <a:srgbClr val="DCE3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6200775" y="2524125"/>
            <a:ext cx="5381625" cy="2809875"/>
          </a:xfrm>
          <a:prstGeom prst="roundRect">
            <a:avLst>
              <a:gd name="adj" fmla="val 2711"/>
            </a:avLst>
          </a:prstGeom>
          <a:solidFill>
            <a:srgbClr val="F4F6F6"/>
          </a:solidFill>
          <a:ln w="19050" cap="flat" cmpd="sng">
            <a:solidFill>
              <a:srgbClr val="0E4F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725" y="370522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725" y="403860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725" y="4371975"/>
            <a:ext cx="1238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725" y="4705350"/>
            <a:ext cx="1238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48425" y="3852862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48425" y="4186237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48425" y="4519612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48425" y="4852987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7"/>
          <p:cNvSpPr txBox="1"/>
          <p:nvPr/>
        </p:nvSpPr>
        <p:spPr>
          <a:xfrm>
            <a:off x="609600" y="533400"/>
            <a:ext cx="110680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5808A"/>
                </a:solidFill>
                <a:latin typeface="IBM Plex Mono"/>
                <a:ea typeface="IBM Plex Mono"/>
                <a:cs typeface="IBM Plex Mono"/>
                <a:sym typeface="IBM Plex Mono"/>
              </a:rPr>
              <a:t>COMPETITIVE MATRIX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609600" y="866775"/>
            <a:ext cx="115824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E4F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Strategic Differentiation vs Enterprise GIS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847725" y="2957512"/>
            <a:ext cx="641330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C510A"/>
                </a:solidFill>
                <a:latin typeface="IBM Plex Sans"/>
                <a:ea typeface="IBM Plex Sans"/>
                <a:cs typeface="IBM Plex Sans"/>
                <a:sym typeface="IBM Plex Sans"/>
              </a:rPr>
              <a:t>Established Competitors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847725" y="3348037"/>
            <a:ext cx="6107906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55666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Esri ArcGIS BA, Environics, Sitewise, SiteZeus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6448425" y="2809875"/>
            <a:ext cx="49815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1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UNCONTESTED SPACE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6448425" y="3105150"/>
            <a:ext cx="57435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E4F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Groundwork Platform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6448425" y="3495675"/>
            <a:ext cx="57435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55666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Prototyped Core Engine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847725" y="3681412"/>
            <a:ext cx="610790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5666C"/>
                </a:solidFill>
                <a:latin typeface="IBM Plex Sans"/>
                <a:ea typeface="IBM Plex Sans"/>
                <a:cs typeface="IBM Plex Sans"/>
                <a:sym typeface="IBM Plex Sans"/>
              </a:rPr>
              <a:t>Demographic &amp; drive-time mapping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847725" y="4014787"/>
            <a:ext cx="610790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5666C"/>
                </a:solidFill>
                <a:latin typeface="IBM Plex Sans"/>
                <a:ea typeface="IBM Plex Sans"/>
                <a:cs typeface="IBM Plex Sans"/>
                <a:sym typeface="IBM Plex Sans"/>
              </a:rPr>
              <a:t>Foot-traffic &amp; spending segmentation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847725" y="4348162"/>
            <a:ext cx="610790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5666C"/>
                </a:solidFill>
                <a:latin typeface="IBM Plex Sans"/>
                <a:ea typeface="IBM Plex Sans"/>
                <a:cs typeface="IBM Plex Sans"/>
                <a:sym typeface="IBM Plex Sans"/>
              </a:rPr>
              <a:t>Zero small business financing matching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847725" y="4681537"/>
            <a:ext cx="610790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5666C"/>
                </a:solidFill>
                <a:latin typeface="IBM Plex Sans"/>
                <a:ea typeface="IBM Plex Sans"/>
                <a:cs typeface="IBM Plex Sans"/>
                <a:sym typeface="IBM Plex Sans"/>
              </a:rPr>
              <a:t>Require sales calls &amp; $10k+ enterprise contracts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6448425" y="3829050"/>
            <a:ext cx="57435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6242A"/>
                </a:solidFill>
                <a:latin typeface="IBM Plex Sans"/>
                <a:ea typeface="IBM Plex Sans"/>
                <a:cs typeface="IBM Plex Sans"/>
                <a:sym typeface="IBM Plex Sans"/>
              </a:rPr>
              <a:t>Federal, provincial &amp; municipal program matching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6448425" y="4162425"/>
            <a:ext cx="57435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6242A"/>
                </a:solidFill>
                <a:latin typeface="IBM Plex Sans"/>
                <a:ea typeface="IBM Plex Sans"/>
                <a:cs typeface="IBM Plex Sans"/>
                <a:sym typeface="IBM Plex Sans"/>
              </a:rPr>
              <a:t>Capital stack assembled against stated needs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6448425" y="4495800"/>
            <a:ext cx="57435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6242A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 URL &amp; last-verified date on every rule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6448425" y="4829175"/>
            <a:ext cx="57435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6242A"/>
                </a:solidFill>
                <a:latin typeface="IBM Plex Sans"/>
                <a:ea typeface="IBM Plex Sans"/>
                <a:cs typeface="IBM Plex Sans"/>
                <a:sym typeface="IBM Plex Sans"/>
              </a:rPr>
              <a:t>$99.99 transparent single-plan pricing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stretch>
            <a:fillRect/>
          </a:stretch>
        </a:blip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"/>
          <p:cNvSpPr/>
          <p:nvPr/>
        </p:nvSpPr>
        <p:spPr>
          <a:xfrm>
            <a:off x="609600" y="2562225"/>
            <a:ext cx="5362575" cy="2733675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9525" cap="flat" cmpd="sng">
            <a:solidFill>
              <a:srgbClr val="DCE3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200775" y="2552700"/>
            <a:ext cx="5381625" cy="2752725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19050" cap="flat" cmpd="sng">
            <a:solidFill>
              <a:srgbClr val="0E4F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725" y="402907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725" y="43053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725" y="458152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725" y="485775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8425" y="402907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8425" y="43053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8425" y="458152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8425" y="4857750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8"/>
          <p:cNvSpPr txBox="1"/>
          <p:nvPr/>
        </p:nvSpPr>
        <p:spPr>
          <a:xfrm>
            <a:off x="609600" y="533400"/>
            <a:ext cx="110680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5808A"/>
                </a:solidFill>
                <a:latin typeface="IBM Plex Mono"/>
                <a:ea typeface="IBM Plex Mono"/>
                <a:cs typeface="IBM Plex Mono"/>
                <a:sym typeface="IBM Plex Mono"/>
              </a:rPr>
              <a:t>COMMERCIAL MODEL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609600" y="866775"/>
            <a:ext cx="115824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E4F58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Price on the Page. No Sales Call Required.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847725" y="2838450"/>
            <a:ext cx="49815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35808A"/>
                </a:solidFill>
                <a:latin typeface="IBM Plex Mono"/>
                <a:ea typeface="IBM Plex Mono"/>
                <a:cs typeface="IBM Plex Mono"/>
                <a:sym typeface="IBM Plex Mono"/>
              </a:rPr>
              <a:t>SINGLE-SITE PLAN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847725" y="3105150"/>
            <a:ext cx="6413301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E4F58"/>
                </a:solidFill>
                <a:latin typeface="IBM Plex Sans"/>
                <a:ea typeface="IBM Plex Sans"/>
                <a:cs typeface="IBM Plex Sans"/>
                <a:sym typeface="IBM Plex Sans"/>
              </a:rPr>
              <a:t>$99.99 </a:t>
            </a:r>
            <a:r>
              <a:rPr lang="en-US" sz="1200" b="0" i="0" u="none" strike="noStrike" cap="none">
                <a:solidFill>
                  <a:srgbClr val="55666C"/>
                </a:solidFill>
                <a:latin typeface="IBM Plex Sans"/>
                <a:ea typeface="IBM Plex Sans"/>
                <a:cs typeface="IBM Plex Sans"/>
                <a:sym typeface="IBM Plex Sans"/>
              </a:rPr>
              <a:t>/ one-time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847725" y="3667125"/>
            <a:ext cx="610790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666C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 first-time owners opening a single location.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6448425" y="2838450"/>
            <a:ext cx="49815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1665E"/>
                </a:solidFill>
                <a:latin typeface="IBM Plex Mono"/>
                <a:ea typeface="IBM Plex Mono"/>
                <a:cs typeface="IBM Plex Mono"/>
                <a:sym typeface="IBM Plex Mono"/>
              </a:rPr>
              <a:t>PLANNING SUBSCRIPTION</a:t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6448425" y="3105150"/>
            <a:ext cx="574357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E4F58"/>
                </a:solidFill>
                <a:latin typeface="IBM Plex Sans"/>
                <a:ea typeface="IBM Plex Sans"/>
                <a:cs typeface="IBM Plex Sans"/>
                <a:sym typeface="IBM Plex Sans"/>
              </a:rPr>
              <a:t>$249 </a:t>
            </a:r>
            <a:r>
              <a:rPr lang="en-US" sz="1200" b="0" i="0" u="none" strike="noStrike" cap="none">
                <a:solidFill>
                  <a:srgbClr val="55666C"/>
                </a:solidFill>
                <a:latin typeface="IBM Plex Sans"/>
                <a:ea typeface="IBM Plex Sans"/>
                <a:cs typeface="IBM Plex Sans"/>
                <a:sym typeface="IBM Plex Sans"/>
              </a:rPr>
              <a:t>/ month</a:t>
            </a:r>
            <a:endParaRPr/>
          </a:p>
        </p:txBody>
      </p:sp>
      <p:sp>
        <p:nvSpPr>
          <p:cNvPr id="233" name="Google Shape;233;p18"/>
          <p:cNvSpPr txBox="1"/>
          <p:nvPr/>
        </p:nvSpPr>
        <p:spPr>
          <a:xfrm>
            <a:off x="6448425" y="3667125"/>
            <a:ext cx="57435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666C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 multi-site operators &amp; active advisors.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847725" y="4010025"/>
            <a:ext cx="6107906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6242A"/>
                </a:solidFill>
                <a:latin typeface="IBM Plex Sans"/>
                <a:ea typeface="IBM Plex Sans"/>
                <a:cs typeface="IBM Plex Sans"/>
                <a:sym typeface="IBM Plex Sans"/>
              </a:rPr>
              <a:t>Full scoring for one neighbourhood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847725" y="4286250"/>
            <a:ext cx="6107906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6242A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Complete line-item cost model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847725" y="4562475"/>
            <a:ext cx="6107906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6242A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Financing shortlist &amp; capital stack</a:t>
            </a:r>
            <a:endParaRPr/>
          </a:p>
        </p:txBody>
      </p:sp>
      <p:sp>
        <p:nvSpPr>
          <p:cNvPr id="237" name="Google Shape;237;p18"/>
          <p:cNvSpPr txBox="1"/>
          <p:nvPr/>
        </p:nvSpPr>
        <p:spPr>
          <a:xfrm>
            <a:off x="847725" y="4838700"/>
            <a:ext cx="6107906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6242A"/>
                </a:solidFill>
                <a:latin typeface="IBM Plex Sans"/>
                <a:ea typeface="IBM Plex Sans"/>
                <a:cs typeface="IBM Plex Sans"/>
                <a:sym typeface="IBM Plex Sans"/>
              </a:rPr>
              <a:t>30 days to revise and re-export</a:t>
            </a:r>
            <a:endParaRPr/>
          </a:p>
        </p:txBody>
      </p:sp>
      <p:sp>
        <p:nvSpPr>
          <p:cNvPr id="238" name="Google Shape;238;p18"/>
          <p:cNvSpPr txBox="1"/>
          <p:nvPr/>
        </p:nvSpPr>
        <p:spPr>
          <a:xfrm>
            <a:off x="6448425" y="4010025"/>
            <a:ext cx="57435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6242A"/>
                </a:solidFill>
                <a:latin typeface="IBM Plex Sans"/>
                <a:ea typeface="IBM Plex Sans"/>
                <a:cs typeface="IBM Plex Sans"/>
                <a:sym typeface="IBM Plex Sans"/>
              </a:rPr>
              <a:t>Unlimited neighbourhoods &amp; scenarios</a:t>
            </a:r>
            <a:endParaRPr/>
          </a:p>
        </p:txBody>
      </p:sp>
      <p:sp>
        <p:nvSpPr>
          <p:cNvPr id="239" name="Google Shape;239;p18"/>
          <p:cNvSpPr txBox="1"/>
          <p:nvPr/>
        </p:nvSpPr>
        <p:spPr>
          <a:xfrm>
            <a:off x="6448425" y="4286250"/>
            <a:ext cx="57435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6242A"/>
                </a:solidFill>
                <a:latin typeface="IBM Plex Sans"/>
                <a:ea typeface="IBM Plex Sans"/>
                <a:cs typeface="IBM Plex Sans"/>
                <a:sym typeface="IBM Plex Sans"/>
              </a:rPr>
              <a:t>Side-by-side site comparison</a:t>
            </a:r>
            <a:endParaRPr/>
          </a:p>
        </p:txBody>
      </p:sp>
      <p:sp>
        <p:nvSpPr>
          <p:cNvPr id="240" name="Google Shape;240;p18"/>
          <p:cNvSpPr txBox="1"/>
          <p:nvPr/>
        </p:nvSpPr>
        <p:spPr>
          <a:xfrm>
            <a:off x="6448425" y="4562475"/>
            <a:ext cx="57435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6242A"/>
                </a:solidFill>
                <a:latin typeface="IBM Plex Sans"/>
                <a:ea typeface="IBM Plex Sans"/>
                <a:cs typeface="IBM Plex Sans"/>
                <a:sym typeface="IBM Plex Sans"/>
              </a:rPr>
              <a:t>Saved shortlists &amp; intake-window alerts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6448425" y="4838700"/>
            <a:ext cx="57435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6242A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Prior $99.99 purchase credited to Month 1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58952" y="77724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8FC3C7"/>
                </a:solidFill>
                <a:latin typeface="IBM Plex Mono"/>
              </a:rP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09728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IBM Plex Sans"/>
              </a:rPr>
              <a:t>Let's see it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2024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C2DADC"/>
                </a:solidFill>
                <a:latin typeface="IBM Plex Sans"/>
              </a:rPr>
              <a:t>One owner, one evening, five stages. Watch how a single choice of business type drives the map, the budget and the funding list.</a:t>
            </a:r>
          </a:p>
        </p:txBody>
      </p:sp>
      <p:sp>
        <p:nvSpPr>
          <p:cNvPr id="10" name="Step 1 number"/>
          <p:cNvSpPr/>
          <p:nvPr/>
        </p:nvSpPr>
        <p:spPr>
          <a:xfrm>
            <a:off x="758952" y="3017520"/>
            <a:ext cx="402336" cy="402336"/>
          </a:xfrm>
          <a:prstGeom prst="ellipse">
            <a:avLst/>
          </a:prstGeom>
          <a:solidFill>
            <a:srgbClr val="0E4F58"/>
          </a:solidFill>
          <a:ln w="15875">
            <a:solidFill>
              <a:srgbClr val="7FC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01</a:t>
            </a:r>
          </a:p>
        </p:txBody>
      </p:sp>
      <p:sp>
        <p:nvSpPr>
          <p:cNvPr id="11" name="Step 1 title"/>
          <p:cNvSpPr txBox="1"/>
          <p:nvPr/>
        </p:nvSpPr>
        <p:spPr>
          <a:xfrm>
            <a:off x="1325880" y="299923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BM Plex Sans"/>
              </a:rPr>
              <a:t>Profile</a:t>
            </a:r>
          </a:p>
        </p:txBody>
      </p:sp>
      <p:sp>
        <p:nvSpPr>
          <p:cNvPr id="12" name="Step 1 text"/>
          <p:cNvSpPr txBox="1"/>
          <p:nvPr/>
        </p:nvSpPr>
        <p:spPr>
          <a:xfrm>
            <a:off x="1325880" y="3236976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2DADC"/>
                </a:solidFill>
                <a:latin typeface="IBM Plex Sans"/>
              </a:rPr>
              <a:t>Business type, capital and experience. Asked once.</a:t>
            </a:r>
          </a:p>
        </p:txBody>
      </p:sp>
      <p:sp>
        <p:nvSpPr>
          <p:cNvPr id="13" name="Step 2 number"/>
          <p:cNvSpPr/>
          <p:nvPr/>
        </p:nvSpPr>
        <p:spPr>
          <a:xfrm>
            <a:off x="758952" y="3639312"/>
            <a:ext cx="402336" cy="402336"/>
          </a:xfrm>
          <a:prstGeom prst="ellipse">
            <a:avLst/>
          </a:prstGeom>
          <a:solidFill>
            <a:srgbClr val="0E4F58"/>
          </a:solidFill>
          <a:ln w="15875">
            <a:solidFill>
              <a:srgbClr val="7FC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02</a:t>
            </a:r>
          </a:p>
        </p:txBody>
      </p:sp>
      <p:sp>
        <p:nvSpPr>
          <p:cNvPr id="14" name="Step 2 title"/>
          <p:cNvSpPr txBox="1"/>
          <p:nvPr/>
        </p:nvSpPr>
        <p:spPr>
          <a:xfrm>
            <a:off x="1325880" y="362102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BM Plex Sans"/>
              </a:rPr>
              <a:t>Where</a:t>
            </a:r>
          </a:p>
        </p:txBody>
      </p:sp>
      <p:sp>
        <p:nvSpPr>
          <p:cNvPr id="15" name="Step 2 text"/>
          <p:cNvSpPr txBox="1"/>
          <p:nvPr/>
        </p:nvSpPr>
        <p:spPr>
          <a:xfrm>
            <a:off x="1325880" y="3858768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2DADC"/>
                </a:solidFill>
                <a:latin typeface="IBM Plex Sans"/>
              </a:rPr>
              <a:t>140 Toronto neighbourhoods scored, with the reasons shown.</a:t>
            </a:r>
          </a:p>
        </p:txBody>
      </p:sp>
      <p:sp>
        <p:nvSpPr>
          <p:cNvPr id="16" name="Step 3 number"/>
          <p:cNvSpPr/>
          <p:nvPr/>
        </p:nvSpPr>
        <p:spPr>
          <a:xfrm>
            <a:off x="758952" y="4261104"/>
            <a:ext cx="402336" cy="402336"/>
          </a:xfrm>
          <a:prstGeom prst="ellipse">
            <a:avLst/>
          </a:prstGeom>
          <a:solidFill>
            <a:srgbClr val="0E4F58"/>
          </a:solidFill>
          <a:ln w="15875">
            <a:solidFill>
              <a:srgbClr val="7FC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03</a:t>
            </a:r>
          </a:p>
        </p:txBody>
      </p:sp>
      <p:sp>
        <p:nvSpPr>
          <p:cNvPr id="17" name="Step 3 title"/>
          <p:cNvSpPr txBox="1"/>
          <p:nvPr/>
        </p:nvSpPr>
        <p:spPr>
          <a:xfrm>
            <a:off x="1325880" y="424281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BM Plex Sans"/>
              </a:rPr>
              <a:t>What it costs</a:t>
            </a:r>
          </a:p>
        </p:txBody>
      </p:sp>
      <p:sp>
        <p:nvSpPr>
          <p:cNvPr id="18" name="Step 3 text"/>
          <p:cNvSpPr txBox="1"/>
          <p:nvPr/>
        </p:nvSpPr>
        <p:spPr>
          <a:xfrm>
            <a:off x="1325880" y="4480560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2DADC"/>
                </a:solidFill>
                <a:latin typeface="IBM Plex Sans"/>
              </a:rPr>
              <a:t>A line-item budget, each line showing its basis.</a:t>
            </a:r>
          </a:p>
        </p:txBody>
      </p:sp>
      <p:sp>
        <p:nvSpPr>
          <p:cNvPr id="19" name="Step 4 number"/>
          <p:cNvSpPr/>
          <p:nvPr/>
        </p:nvSpPr>
        <p:spPr>
          <a:xfrm>
            <a:off x="758952" y="4882896"/>
            <a:ext cx="402336" cy="402336"/>
          </a:xfrm>
          <a:prstGeom prst="ellipse">
            <a:avLst/>
          </a:prstGeom>
          <a:solidFill>
            <a:srgbClr val="0E4F58"/>
          </a:solidFill>
          <a:ln w="15875">
            <a:solidFill>
              <a:srgbClr val="7FC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04</a:t>
            </a:r>
          </a:p>
        </p:txBody>
      </p:sp>
      <p:sp>
        <p:nvSpPr>
          <p:cNvPr id="20" name="Step 4 title"/>
          <p:cNvSpPr txBox="1"/>
          <p:nvPr/>
        </p:nvSpPr>
        <p:spPr>
          <a:xfrm>
            <a:off x="1325880" y="4864608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BM Plex Sans"/>
              </a:rPr>
              <a:t>How to pay</a:t>
            </a:r>
          </a:p>
        </p:txBody>
      </p:sp>
      <p:sp>
        <p:nvSpPr>
          <p:cNvPr id="21" name="Step 4 text"/>
          <p:cNvSpPr txBox="1"/>
          <p:nvPr/>
        </p:nvSpPr>
        <p:spPr>
          <a:xfrm>
            <a:off x="1325880" y="510235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2DADC"/>
                </a:solidFill>
                <a:latin typeface="IBM Plex Sans"/>
              </a:rPr>
              <a:t>Federal, Ontario and City programs checked for eligibility.</a:t>
            </a:r>
          </a:p>
        </p:txBody>
      </p:sp>
      <p:sp>
        <p:nvSpPr>
          <p:cNvPr id="22" name="Step 5 number"/>
          <p:cNvSpPr/>
          <p:nvPr/>
        </p:nvSpPr>
        <p:spPr>
          <a:xfrm>
            <a:off x="758952" y="5504688"/>
            <a:ext cx="402336" cy="402336"/>
          </a:xfrm>
          <a:prstGeom prst="ellipse">
            <a:avLst/>
          </a:prstGeom>
          <a:solidFill>
            <a:srgbClr val="0E4F58"/>
          </a:solidFill>
          <a:ln w="15875">
            <a:solidFill>
              <a:srgbClr val="7FC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05</a:t>
            </a:r>
          </a:p>
        </p:txBody>
      </p:sp>
      <p:sp>
        <p:nvSpPr>
          <p:cNvPr id="23" name="Step 5 title"/>
          <p:cNvSpPr txBox="1"/>
          <p:nvPr/>
        </p:nvSpPr>
        <p:spPr>
          <a:xfrm>
            <a:off x="1325880" y="548640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BM Plex Sans"/>
              </a:rPr>
              <a:t>The plan</a:t>
            </a:r>
          </a:p>
        </p:txBody>
      </p:sp>
      <p:sp>
        <p:nvSpPr>
          <p:cNvPr id="24" name="Step 5 text"/>
          <p:cNvSpPr txBox="1"/>
          <p:nvPr/>
        </p:nvSpPr>
        <p:spPr>
          <a:xfrm>
            <a:off x="1325880" y="5724144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2DADC"/>
                </a:solidFill>
                <a:latin typeface="IBM Plex Sans"/>
              </a:rPr>
              <a:t>Everything assembled into the document a lender asks for.</a:t>
            </a:r>
          </a:p>
        </p:txBody>
      </p:sp>
      <p:pic>
        <p:nvPicPr>
          <p:cNvPr id="25" name="Prototype screenshot: Stage 2 map" descr="Screenshot of the Groundwork prototype opportunity m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25880"/>
            <a:ext cx="5212080" cy="351311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55080" y="4930435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FC3C7"/>
                </a:solidFill>
                <a:latin typeface="IBM Plex Mono"/>
              </a:rPr>
              <a:t>Groundwork prototype, Stage 2: where to open</a:t>
            </a:r>
          </a:p>
        </p:txBody>
      </p:sp>
      <p:sp>
        <p:nvSpPr>
          <p:cNvPr id="27" name="Watch for callout"/>
          <p:cNvSpPr/>
          <p:nvPr/>
        </p:nvSpPr>
        <p:spPr>
          <a:xfrm>
            <a:off x="6355080" y="5230368"/>
            <a:ext cx="5212080" cy="658368"/>
          </a:xfrm>
          <a:prstGeom prst="roundRect">
            <a:avLst>
              <a:gd name="adj" fmla="val 18000"/>
            </a:avLst>
          </a:prstGeom>
          <a:solidFill>
            <a:srgbClr val="0E4F58"/>
          </a:solidFill>
          <a:ln w="9525">
            <a:solidFill>
              <a:srgbClr val="2A85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0" y="5230368"/>
            <a:ext cx="4846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8FC3C7"/>
                </a:solidFill>
                <a:latin typeface="IBM Plex Mono"/>
              </a:rPr>
              <a:t>WATCH FOR  </a:t>
            </a:r>
            <a:r>
              <a:rPr sz="1300" b="0" i="0">
                <a:solidFill>
                  <a:srgbClr val="FFFFFF"/>
                </a:solidFill>
                <a:latin typeface="IBM Plex Sans"/>
              </a:rPr>
              <a:t>the funding shortfall, stated plainly.</a:t>
            </a:r>
          </a:p>
        </p:txBody>
      </p:sp>
    </p:spTree>
    <p:extLst>
      <p:ext uri="{BB962C8B-B14F-4D97-AF65-F5344CB8AC3E}">
        <p14:creationId xmlns:p14="http://schemas.microsoft.com/office/powerpoint/2010/main" val="510682992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58952" y="5669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8FC3C7"/>
                </a:solidFill>
                <a:latin typeface="IBM Plex Mono"/>
              </a:rPr>
              <a:t>THE GROUND CREW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868680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IBM Plex Sans"/>
              </a:rPr>
              <a:t>Thank you. 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57276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2DADC"/>
                </a:solidFill>
                <a:latin typeface="IBM Plex Sans"/>
              </a:rPr>
              <a:t>Scan a code to connect with us on LinkedIn.</a:t>
            </a:r>
          </a:p>
        </p:txBody>
      </p:sp>
      <p:sp>
        <p:nvSpPr>
          <p:cNvPr id="10" name="Team card 1"/>
          <p:cNvSpPr/>
          <p:nvPr/>
        </p:nvSpPr>
        <p:spPr>
          <a:xfrm>
            <a:off x="758952" y="2148840"/>
            <a:ext cx="24688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hoto Jesutofunmi Oluwadare" descr="ph_je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2377440"/>
            <a:ext cx="1188720" cy="1188720"/>
          </a:xfrm>
          <a:prstGeom prst="rect">
            <a:avLst/>
          </a:prstGeom>
        </p:spPr>
      </p:pic>
      <p:sp>
        <p:nvSpPr>
          <p:cNvPr id="12" name="Photo ring"/>
          <p:cNvSpPr/>
          <p:nvPr/>
        </p:nvSpPr>
        <p:spPr>
          <a:xfrm>
            <a:off x="1399032" y="2377440"/>
            <a:ext cx="1188720" cy="1188720"/>
          </a:xfrm>
          <a:prstGeom prst="ellipse">
            <a:avLst/>
          </a:prstGeom>
          <a:noFill/>
          <a:ln w="38100">
            <a:solidFill>
              <a:srgbClr val="B9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68503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3A42"/>
                </a:solidFill>
                <a:latin typeface="IBM Plex Sans"/>
              </a:rPr>
              <a:t>Jesutofunmi Oluwadare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77639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5666C"/>
                </a:solidFill>
                <a:latin typeface="IBM Plex Sans"/>
              </a:rPr>
              <a:t>Data Steward, AI Governance Specialist</a:t>
            </a:r>
          </a:p>
        </p:txBody>
      </p:sp>
      <p:pic>
        <p:nvPicPr>
          <p:cNvPr id="15" name="LinkedIn QR Jesutofunmi Oluwadare" descr="qr_jes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592" y="4507992"/>
            <a:ext cx="1371600" cy="1371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8952" y="5971031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 spc="100">
                <a:solidFill>
                  <a:srgbClr val="8A999E"/>
                </a:solidFill>
                <a:latin typeface="IBM Plex Mono"/>
              </a:rPr>
              <a:t>LINKEDIN</a:t>
            </a:r>
          </a:p>
        </p:txBody>
      </p:sp>
      <p:sp>
        <p:nvSpPr>
          <p:cNvPr id="17" name="Team card 2"/>
          <p:cNvSpPr/>
          <p:nvPr/>
        </p:nvSpPr>
        <p:spPr>
          <a:xfrm>
            <a:off x="3493008" y="2148840"/>
            <a:ext cx="24688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hoto Bijila Margaret" descr="ph_bijil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088" y="2377440"/>
            <a:ext cx="1188720" cy="1188720"/>
          </a:xfrm>
          <a:prstGeom prst="rect">
            <a:avLst/>
          </a:prstGeom>
        </p:spPr>
      </p:pic>
      <p:sp>
        <p:nvSpPr>
          <p:cNvPr id="19" name="Photo ring"/>
          <p:cNvSpPr/>
          <p:nvPr/>
        </p:nvSpPr>
        <p:spPr>
          <a:xfrm>
            <a:off x="4133088" y="2377440"/>
            <a:ext cx="1188720" cy="1188720"/>
          </a:xfrm>
          <a:prstGeom prst="ellipse">
            <a:avLst/>
          </a:prstGeom>
          <a:noFill/>
          <a:ln w="38100">
            <a:solidFill>
              <a:srgbClr val="B9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84448" y="368503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3A42"/>
                </a:solidFill>
                <a:latin typeface="IBM Plex Sans"/>
              </a:rPr>
              <a:t>Bijila Margaret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3977639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5666C"/>
                </a:solidFill>
                <a:latin typeface="IBM Plex Sans"/>
              </a:rPr>
              <a:t>Java Developer</a:t>
            </a:r>
          </a:p>
        </p:txBody>
      </p:sp>
      <p:pic>
        <p:nvPicPr>
          <p:cNvPr id="22" name="LinkedIn QR Bijila Margaret" descr="qr_biji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1648" y="4507992"/>
            <a:ext cx="1371600" cy="1371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493008" y="5971031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 spc="100">
                <a:solidFill>
                  <a:srgbClr val="8A999E"/>
                </a:solidFill>
                <a:latin typeface="IBM Plex Mono"/>
              </a:rPr>
              <a:t>LINKEDIN</a:t>
            </a:r>
          </a:p>
        </p:txBody>
      </p:sp>
      <p:sp>
        <p:nvSpPr>
          <p:cNvPr id="24" name="Team card 3"/>
          <p:cNvSpPr/>
          <p:nvPr/>
        </p:nvSpPr>
        <p:spPr>
          <a:xfrm>
            <a:off x="6227064" y="2148840"/>
            <a:ext cx="24688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hoto Soudeh Soufi" descr="ph_soude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7144" y="2377440"/>
            <a:ext cx="1188720" cy="1188720"/>
          </a:xfrm>
          <a:prstGeom prst="rect">
            <a:avLst/>
          </a:prstGeom>
        </p:spPr>
      </p:pic>
      <p:sp>
        <p:nvSpPr>
          <p:cNvPr id="26" name="Photo ring"/>
          <p:cNvSpPr/>
          <p:nvPr/>
        </p:nvSpPr>
        <p:spPr>
          <a:xfrm>
            <a:off x="6867144" y="2377440"/>
            <a:ext cx="1188720" cy="1188720"/>
          </a:xfrm>
          <a:prstGeom prst="ellipse">
            <a:avLst/>
          </a:prstGeom>
          <a:noFill/>
          <a:ln w="38100">
            <a:solidFill>
              <a:srgbClr val="B9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18504" y="368503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3A42"/>
                </a:solidFill>
                <a:latin typeface="IBM Plex Sans"/>
              </a:rPr>
              <a:t>Soudeh Soufi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3977639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5666C"/>
                </a:solidFill>
                <a:latin typeface="IBM Plex Sans"/>
              </a:rPr>
              <a:t>Business Analyst, Strategic Transformation</a:t>
            </a:r>
          </a:p>
        </p:txBody>
      </p:sp>
      <p:pic>
        <p:nvPicPr>
          <p:cNvPr id="29" name="LinkedIn QR Soudeh Soufi" descr="qr_soude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5704" y="4507992"/>
            <a:ext cx="1371600" cy="1371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27064" y="5971031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 spc="100">
                <a:solidFill>
                  <a:srgbClr val="8A999E"/>
                </a:solidFill>
                <a:latin typeface="IBM Plex Mono"/>
              </a:rPr>
              <a:t>LINKEDIN</a:t>
            </a:r>
          </a:p>
        </p:txBody>
      </p:sp>
      <p:sp>
        <p:nvSpPr>
          <p:cNvPr id="31" name="Team card 4"/>
          <p:cNvSpPr/>
          <p:nvPr/>
        </p:nvSpPr>
        <p:spPr>
          <a:xfrm>
            <a:off x="8961120" y="2148840"/>
            <a:ext cx="24688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hoto Sarra Drine" descr="ph_sarr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1200" y="2377440"/>
            <a:ext cx="1188720" cy="1188720"/>
          </a:xfrm>
          <a:prstGeom prst="rect">
            <a:avLst/>
          </a:prstGeom>
        </p:spPr>
      </p:pic>
      <p:sp>
        <p:nvSpPr>
          <p:cNvPr id="33" name="Photo ring"/>
          <p:cNvSpPr/>
          <p:nvPr/>
        </p:nvSpPr>
        <p:spPr>
          <a:xfrm>
            <a:off x="9601200" y="2377440"/>
            <a:ext cx="1188720" cy="1188720"/>
          </a:xfrm>
          <a:prstGeom prst="ellipse">
            <a:avLst/>
          </a:prstGeom>
          <a:noFill/>
          <a:ln w="38100">
            <a:solidFill>
              <a:srgbClr val="B9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368503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3A42"/>
                </a:solidFill>
                <a:latin typeface="IBM Plex Sans"/>
              </a:rPr>
              <a:t>Sarra Drine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977639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5666C"/>
                </a:solidFill>
                <a:latin typeface="IBM Plex Sans"/>
              </a:rPr>
              <a:t>Full Stack Engineer</a:t>
            </a:r>
          </a:p>
        </p:txBody>
      </p:sp>
      <p:pic>
        <p:nvPicPr>
          <p:cNvPr id="36" name="LinkedIn QR Sarra Drine" descr="qr_sarr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9760" y="4507992"/>
            <a:ext cx="1371600" cy="13716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961120" y="5971031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 spc="100">
                <a:solidFill>
                  <a:srgbClr val="8A999E"/>
                </a:solidFill>
                <a:latin typeface="IBM Plex Mono"/>
              </a:rPr>
              <a:t>LINKEDIN</a:t>
            </a:r>
          </a:p>
        </p:txBody>
      </p:sp>
    </p:spTree>
    <p:extLst>
      <p:ext uri="{BB962C8B-B14F-4D97-AF65-F5344CB8AC3E}">
        <p14:creationId xmlns:p14="http://schemas.microsoft.com/office/powerpoint/2010/main" val="2568134010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616</Words>
  <Application>Microsoft Office PowerPoint</Application>
  <PresentationFormat>Widescreen</PresentationFormat>
  <Paragraphs>103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Inter</vt:lpstr>
      <vt:lpstr>IBM Plex Mono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</vt:lpstr>
      <vt:lpstr>Pictures with title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Bijila Margaret</dc:creator>
  <cp:lastModifiedBy>Bijila Margaret</cp:lastModifiedBy>
  <cp:revision>4</cp:revision>
  <dcterms:modified xsi:type="dcterms:W3CDTF">2026-09-16T17:54:56Z</dcterms:modified>
</cp:coreProperties>
</file>